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96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517b2c71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517b2c71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517b2c71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517b2c71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517b2c71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517b2c71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517b2c71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517b2c71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517b2c71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4517b2c71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517b2c71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517b2c71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517b2c718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517b2c718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517b2c71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517b2c718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517b2c71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517b2c71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517b2c71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517b2c71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517b2c71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517b2c71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517b2c71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517b2c71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517b2c71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517b2c71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1450" y="59525"/>
            <a:ext cx="9072600" cy="4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>
                <a:solidFill>
                  <a:schemeClr val="dk1"/>
                </a:solidFill>
              </a:rPr>
              <a:t>Tema. La crisis de los años setenta y los orígenes de la globalización contemporánea. El surgimiento de un nuevo paradigma técnico-económico. La “Tercera Revolución</a:t>
            </a:r>
            <a:endParaRPr sz="26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600">
                <a:solidFill>
                  <a:schemeClr val="dk1"/>
                </a:solidFill>
              </a:rPr>
              <a:t>Tecnológica”. Nuevos modelos productivos y Empresa Red.</a:t>
            </a:r>
            <a:endParaRPr sz="2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Bibliografía: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400">
                <a:solidFill>
                  <a:schemeClr val="dk1"/>
                </a:solidFill>
              </a:rPr>
              <a:t>Valdaliso, Jesús M. y López, Santiago, Historia Económica de la Empresa, España, Crítica, 2007. (pp. 436 – 459).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7650" y="905150"/>
            <a:ext cx="8929800" cy="4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→ varios tipos de organización empresarial → de acuerdo a 2 variables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→ La</a:t>
            </a:r>
            <a:r>
              <a:rPr lang="es" b="1" dirty="0">
                <a:solidFill>
                  <a:schemeClr val="dk1"/>
                </a:solidFill>
              </a:rPr>
              <a:t> gran empresa</a:t>
            </a:r>
            <a:r>
              <a:rPr lang="es" dirty="0">
                <a:solidFill>
                  <a:schemeClr val="dk1"/>
                </a:solidFill>
              </a:rPr>
              <a:t> en este período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dirty="0">
                <a:solidFill>
                  <a:schemeClr val="dk1"/>
                </a:solidFill>
              </a:rPr>
              <a:t>A partir de los 70´ →  la gran empresa → coordinadora de redes de proveedores y subcontratistas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→ </a:t>
            </a:r>
            <a:r>
              <a:rPr lang="es" b="1" dirty="0">
                <a:solidFill>
                  <a:schemeClr val="dk1"/>
                </a:solidFill>
              </a:rPr>
              <a:t>Antes de la Segunda ruptura industrial</a:t>
            </a:r>
            <a:r>
              <a:rPr lang="es" dirty="0">
                <a:solidFill>
                  <a:schemeClr val="dk1"/>
                </a:solidFill>
              </a:rPr>
              <a:t> las capacidades para manejar esta red solo desarrolladas </a:t>
            </a:r>
            <a:r>
              <a:rPr lang="es-US" dirty="0">
                <a:solidFill>
                  <a:schemeClr val="dk1"/>
                </a:solidFill>
              </a:rPr>
              <a:t>por</a:t>
            </a: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→ A partir de la </a:t>
            </a:r>
            <a:r>
              <a:rPr lang="es" b="1" dirty="0">
                <a:solidFill>
                  <a:schemeClr val="dk1"/>
                </a:solidFill>
              </a:rPr>
              <a:t>segunda ruptura industrial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dk1"/>
                </a:solidFill>
              </a:rPr>
              <a:t>→ En los 80 → 2 modelos de grandes empresas - red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dirty="0">
                <a:solidFill>
                  <a:schemeClr val="dk1"/>
                </a:solidFill>
              </a:rPr>
              <a:t>norteamericano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dirty="0">
                <a:solidFill>
                  <a:schemeClr val="dk1"/>
                </a:solidFill>
              </a:rPr>
              <a:t>japonés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07150" y="95250"/>
            <a:ext cx="8405700" cy="3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</a:rPr>
              <a:t>9.2 UNA ORGANIZACIÓN EMPRESARIAL MÁS DIVERSA, HETEROGÉNEA Y FLEXIBLE</a:t>
            </a:r>
            <a:endParaRPr sz="1600"/>
          </a:p>
        </p:txBody>
      </p:sp>
      <p:sp>
        <p:nvSpPr>
          <p:cNvPr id="61" name="Google Shape;61;p14"/>
          <p:cNvSpPr txBox="1"/>
          <p:nvPr/>
        </p:nvSpPr>
        <p:spPr>
          <a:xfrm>
            <a:off x="107150" y="547850"/>
            <a:ext cx="5393400" cy="3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</a:rPr>
              <a:t>9.2.1. La evolución de las grande empresas: la empresa - red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71450" y="107150"/>
            <a:ext cx="8929800" cy="49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industria automovilística de los 80´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los fabricantes japoneses → no dependieron en exclusiva de un solo proveedor para cada componente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El modelo inicial → basado en la ciudad de </a:t>
            </a:r>
            <a:r>
              <a:rPr lang="es" b="1">
                <a:solidFill>
                  <a:schemeClr val="dk1"/>
                </a:solidFill>
              </a:rPr>
              <a:t>Toyota</a:t>
            </a:r>
            <a:r>
              <a:rPr lang="es">
                <a:solidFill>
                  <a:schemeClr val="dk1"/>
                </a:solidFill>
              </a:rPr>
              <a:t>, en Nagoya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b="1">
                <a:solidFill>
                  <a:schemeClr val="dk1"/>
                </a:solidFill>
              </a:rPr>
              <a:t>estructura multifuncional</a:t>
            </a:r>
            <a:r>
              <a:rPr lang="es">
                <a:solidFill>
                  <a:schemeClr val="dk1"/>
                </a:solidFill>
              </a:rPr>
              <a:t> + </a:t>
            </a:r>
            <a:r>
              <a:rPr lang="es" b="1">
                <a:solidFill>
                  <a:schemeClr val="dk1"/>
                </a:solidFill>
              </a:rPr>
              <a:t>coordinación de la producción</a:t>
            </a:r>
            <a:r>
              <a:rPr lang="es">
                <a:solidFill>
                  <a:schemeClr val="dk1"/>
                </a:solidFill>
              </a:rPr>
              <a:t> de todas sus filiales de ensamblaje → para adecuar la producción a la demanda del mercado → estructura multidivisional no hubiera podido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A partir de los 90´</a:t>
            </a:r>
            <a:r>
              <a:rPr lang="es">
                <a:solidFill>
                  <a:schemeClr val="dk1"/>
                </a:solidFill>
              </a:rPr>
              <a:t> → paralela a la difusión de las tecnologías de información y comunicación y a la mejora de las redes logísticas → 3 tendencias en la industria automovilística: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proceso de fabricación cada vez más modular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intensificaron la relación de colaboración con sus proveedores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se amplió la dimensión espacial de la red de proveedores y productores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71450" y="107150"/>
            <a:ext cx="8929800" cy="49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PYMES especializadas que trabajan para estas redes →  también experimentaron cambios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los desarrollos de la industria informática → protagonizados también por grandes empresas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empresas informáticas europeas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también se advierten</a:t>
            </a:r>
            <a:r>
              <a:rPr lang="es" b="1">
                <a:solidFill>
                  <a:schemeClr val="dk1"/>
                </a:solidFill>
              </a:rPr>
              <a:t> diferencias nacionales</a:t>
            </a:r>
            <a:r>
              <a:rPr lang="es">
                <a:solidFill>
                  <a:schemeClr val="dk1"/>
                </a:solidFill>
              </a:rPr>
              <a:t> → las 9 grandes compañías japonesas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industria química y farmacéutica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→ economías de escala y diversificación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grandes empresas diversificadas → como General Electric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Recuadro 9.3.</a:t>
            </a:r>
            <a:r>
              <a:rPr lang="es" b="1">
                <a:solidFill>
                  <a:schemeClr val="dk1"/>
                </a:solidFill>
              </a:rPr>
              <a:t>”La reorganización de una gran empresa en tiempo de crisis: General Electric”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representa la evolución de la</a:t>
            </a:r>
            <a:r>
              <a:rPr lang="es" sz="1300" b="1">
                <a:solidFill>
                  <a:schemeClr val="dk1"/>
                </a:solidFill>
              </a:rPr>
              <a:t> dirección estratégica</a:t>
            </a:r>
            <a:r>
              <a:rPr lang="es" sz="1300">
                <a:solidFill>
                  <a:schemeClr val="dk1"/>
                </a:solidFill>
              </a:rPr>
              <a:t> desde los 50´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revelador → importancia de </a:t>
            </a:r>
            <a:r>
              <a:rPr lang="es" sz="1300" b="1">
                <a:solidFill>
                  <a:schemeClr val="dk1"/>
                </a:solidFill>
              </a:rPr>
              <a:t>individuos concretos</a:t>
            </a:r>
            <a:r>
              <a:rPr lang="es" sz="1300">
                <a:solidFill>
                  <a:schemeClr val="dk1"/>
                </a:solidFill>
              </a:rPr>
              <a:t> en la evolución de las grandes empresas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dirección basado en la </a:t>
            </a:r>
            <a:r>
              <a:rPr lang="es" sz="1300" b="1">
                <a:solidFill>
                  <a:schemeClr val="dk1"/>
                </a:solidFill>
              </a:rPr>
              <a:t>planificación estratégica dirigida por la oficina central </a:t>
            </a:r>
            <a:r>
              <a:rPr lang="es" sz="1300">
                <a:solidFill>
                  <a:schemeClr val="dk1"/>
                </a:solidFill>
              </a:rPr>
              <a:t>en los 70´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3 categorías de negocios en los que la empresa estaba presente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1) los </a:t>
            </a:r>
            <a:r>
              <a:rPr lang="es" sz="1300" b="1">
                <a:solidFill>
                  <a:schemeClr val="dk1"/>
                </a:solidFill>
              </a:rPr>
              <a:t>“nucleares” </a:t>
            </a:r>
            <a:r>
              <a:rPr lang="es" sz="1300">
                <a:solidFill>
                  <a:schemeClr val="dk1"/>
                </a:solidFill>
              </a:rPr>
              <a:t>→  posición de liderazgo desde sus orígenes + capacidades distintivas fuertes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2) “</a:t>
            </a:r>
            <a:r>
              <a:rPr lang="es" sz="1300" b="1">
                <a:solidFill>
                  <a:schemeClr val="dk1"/>
                </a:solidFill>
              </a:rPr>
              <a:t>alta tecnología</a:t>
            </a:r>
            <a:r>
              <a:rPr lang="es" sz="1300">
                <a:solidFill>
                  <a:schemeClr val="dk1"/>
                </a:solidFill>
              </a:rPr>
              <a:t>” →  exigían ciclos de desarrollo del producto más rápidos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3) </a:t>
            </a:r>
            <a:r>
              <a:rPr lang="es" sz="1300" b="1">
                <a:solidFill>
                  <a:schemeClr val="dk1"/>
                </a:solidFill>
              </a:rPr>
              <a:t>“servicios” </a:t>
            </a:r>
            <a:r>
              <a:rPr lang="es" sz="1300">
                <a:solidFill>
                  <a:schemeClr val="dk1"/>
                </a:solidFill>
              </a:rPr>
              <a:t>→ </a:t>
            </a:r>
            <a:r>
              <a:rPr lang="es" sz="1300" b="1">
                <a:solidFill>
                  <a:schemeClr val="dk1"/>
                </a:solidFill>
              </a:rPr>
              <a:t> </a:t>
            </a:r>
            <a:r>
              <a:rPr lang="es" sz="1300">
                <a:solidFill>
                  <a:schemeClr val="dk1"/>
                </a:solidFill>
              </a:rPr>
              <a:t>Financial Services y la cadena NBC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en los 80´→  disminuyó el número de directivos → modelo de </a:t>
            </a:r>
            <a:r>
              <a:rPr lang="es" sz="1300" b="1">
                <a:solidFill>
                  <a:schemeClr val="dk1"/>
                </a:solidFill>
              </a:rPr>
              <a:t>control estratégico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en los 90´ → empresa global “sin fronteras” entre negocios países y personas 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9.2.2. Redes de producción modular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industria informática +  redes globales de productores alrededor de grandes empresas + integración del mercado internacional + desintegración de la producción → nuevo modelo de organización industrial → las</a:t>
            </a:r>
            <a:r>
              <a:rPr lang="es" b="1">
                <a:solidFill>
                  <a:schemeClr val="dk1"/>
                </a:solidFill>
              </a:rPr>
              <a:t> redes de producción modular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las empresas ya no se concentran en la producción → sino en el diseño, la marca y la distribución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resultado → </a:t>
            </a:r>
            <a:r>
              <a:rPr lang="es" b="1">
                <a:solidFill>
                  <a:schemeClr val="dk1"/>
                </a:solidFill>
              </a:rPr>
              <a:t>formación de una red </a:t>
            </a:r>
            <a:r>
              <a:rPr lang="es">
                <a:solidFill>
                  <a:schemeClr val="dk1"/>
                </a:solidFill>
              </a:rPr>
              <a:t>→ la novedad → mayor crecimiento y especialización del mercado y menor  especificidad de los conocimientos y los activos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redes resultantes → </a:t>
            </a:r>
            <a:r>
              <a:rPr lang="es" b="1">
                <a:solidFill>
                  <a:schemeClr val="dk1"/>
                </a:solidFill>
              </a:rPr>
              <a:t> abiertas e inestables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Otra implicación →  la innovación no siempre conduce a la creación de empresas gigantescas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modularidad también se emplea como estrategia interna en mucha empresas </a:t>
            </a:r>
            <a:r>
              <a:rPr lang="es" sz="1000">
                <a:solidFill>
                  <a:schemeClr val="dk1"/>
                </a:solidFill>
              </a:rPr>
              <a:t>→ </a:t>
            </a:r>
            <a:r>
              <a:rPr lang="es">
                <a:solidFill>
                  <a:schemeClr val="dk1"/>
                </a:solidFill>
              </a:rPr>
              <a:t>se combina con la jerarquía como mecanismo de coordinación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82" name="Google Shape;82;p18"/>
          <p:cNvSpPr txBox="1"/>
          <p:nvPr/>
        </p:nvSpPr>
        <p:spPr>
          <a:xfrm>
            <a:off x="0" y="71425"/>
            <a:ext cx="3167100" cy="273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9.2.3. Distritos antiguos y recientes en la nueva era del capitalismo empresarial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Desde fines de los 70´ → el concepto se puso nuevamente de moda → como alternativa a la gran empresa y la producción en masa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muchos de los viejos distritos → dificultades durante los 80´→ aparecieron otros sistemas productivos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los </a:t>
            </a:r>
            <a:r>
              <a:rPr lang="es" b="1">
                <a:solidFill>
                  <a:schemeClr val="dk1"/>
                </a:solidFill>
              </a:rPr>
              <a:t>viejos distritos </a:t>
            </a:r>
            <a:r>
              <a:rPr lang="es">
                <a:solidFill>
                  <a:schemeClr val="dk1"/>
                </a:solidFill>
              </a:rPr>
              <a:t>como los</a:t>
            </a:r>
            <a:r>
              <a:rPr lang="es" b="1">
                <a:solidFill>
                  <a:schemeClr val="dk1"/>
                </a:solidFill>
              </a:rPr>
              <a:t> clusters </a:t>
            </a:r>
            <a:r>
              <a:rPr lang="es">
                <a:solidFill>
                  <a:schemeClr val="dk1"/>
                </a:solidFill>
              </a:rPr>
              <a:t>o las </a:t>
            </a:r>
            <a:r>
              <a:rPr lang="es" b="1">
                <a:solidFill>
                  <a:schemeClr val="dk1"/>
                </a:solidFill>
              </a:rPr>
              <a:t>redes de innovación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De menor a mayor → podemos distinguir entre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b="1">
                <a:solidFill>
                  <a:schemeClr val="dk1"/>
                </a:solidFill>
              </a:rPr>
              <a:t>los distritos cooperativos </a:t>
            </a:r>
            <a:endParaRPr b="1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b="1">
                <a:solidFill>
                  <a:schemeClr val="dk1"/>
                </a:solidFill>
              </a:rPr>
              <a:t>los distritos nucleados y jerárquicos</a:t>
            </a:r>
            <a:endParaRPr b="1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59525" y="47625"/>
            <a:ext cx="6334200" cy="29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9.2.3.1. Los distritos tradicionales ante las nuevas condiciones en el mercado y la tecnología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A partir de mediados de los 70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 b="1">
                <a:solidFill>
                  <a:schemeClr val="dk1"/>
                </a:solidFill>
              </a:rPr>
              <a:t>en evidencia sus debilidades</a:t>
            </a:r>
            <a:r>
              <a:rPr lang="es">
                <a:solidFill>
                  <a:schemeClr val="dk1"/>
                </a:solidFill>
              </a:rPr>
              <a:t> →  sweating system o la economía sumergida, riesgos de una especialización y un aislamiento excesivos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las industrias del textil y el calzado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industria del calzado del Levante español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sectores de más complejidad tecnológica organizados en distritos industriales: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>
                <a:solidFill>
                  <a:schemeClr val="dk1"/>
                </a:solidFill>
              </a:rPr>
              <a:t>fabricación de máquinas-herramienta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>
                <a:solidFill>
                  <a:schemeClr val="dk1"/>
                </a:solidFill>
              </a:rPr>
              <a:t> industria relojera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71450" y="35725"/>
            <a:ext cx="7346100" cy="29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distritos que sobrevivieron a la crisis →  gracias a rasgos característicos de esta forma de organización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estrategia de cooperación + mantenimiento de un capital social (o una cultura local) →  ahora combinada con la integración en redes internacionales 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también tienen rasgos nuevos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aislamiento + especialización excesiva → bloqueo de la innovación + acentuaron la crisis + dificultaron la recuperación industrial </a:t>
            </a:r>
            <a:endParaRPr b="1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9.2.3.2. La organización productiva en los nuevos sectores: redes de innovación y clusters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organización productiva en los nuevos sectores vinculados a las tecnologías de la información → calificada como una “</a:t>
            </a:r>
            <a:r>
              <a:rPr lang="es" b="1">
                <a:solidFill>
                  <a:schemeClr val="dk1"/>
                </a:solidFill>
              </a:rPr>
              <a:t>red de innovación</a:t>
            </a:r>
            <a:r>
              <a:rPr lang="es">
                <a:solidFill>
                  <a:schemeClr val="dk1"/>
                </a:solidFill>
              </a:rPr>
              <a:t>”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está integrada por dos redes superpuestas: una de creadores-fabricantes y otra de capitalistas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59525" y="3214700"/>
            <a:ext cx="7227000" cy="393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El desarrollo de Silicon Valley (California) y la Ruta 128 (Boston)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los </a:t>
            </a:r>
            <a:r>
              <a:rPr lang="es" b="1">
                <a:solidFill>
                  <a:schemeClr val="dk1"/>
                </a:solidFill>
              </a:rPr>
              <a:t>miniordenadores </a:t>
            </a:r>
            <a:r>
              <a:rPr lang="es">
                <a:solidFill>
                  <a:schemeClr val="dk1"/>
                </a:solidFill>
              </a:rPr>
              <a:t>→  requerían menos espacio y eran más competitivos en tareas menos complejas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</a:t>
            </a:r>
            <a:r>
              <a:rPr lang="es" b="1">
                <a:solidFill>
                  <a:schemeClr val="dk1"/>
                </a:solidFill>
              </a:rPr>
              <a:t>ordenadores personales </a:t>
            </a:r>
            <a:r>
              <a:rPr lang="es">
                <a:solidFill>
                  <a:schemeClr val="dk1"/>
                </a:solidFill>
              </a:rPr>
              <a:t>(PC) a principios de los 80´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estructura industrial del sector informático →  cambió radicalmente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explicación de la </a:t>
            </a:r>
            <a:r>
              <a:rPr lang="es" b="1">
                <a:solidFill>
                  <a:schemeClr val="dk1"/>
                </a:solidFill>
              </a:rPr>
              <a:t>crisis previa a la de las “.com” </a:t>
            </a:r>
            <a:r>
              <a:rPr lang="es">
                <a:solidFill>
                  <a:schemeClr val="dk1"/>
                </a:solidFill>
              </a:rPr>
              <a:t>→  2 factores muy relacionados entre sí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b="1">
                <a:solidFill>
                  <a:schemeClr val="dk1"/>
                </a:solidFill>
              </a:rPr>
              <a:t>la trayectoria tecnológica de cada sector industrial (semiconductores y miniordenadores) </a:t>
            </a:r>
            <a:endParaRPr b="1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lang="es" b="1">
                <a:solidFill>
                  <a:schemeClr val="dk1"/>
                </a:solidFill>
              </a:rPr>
              <a:t>la organización empresarial de cada región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motor de crecimiento de Silicon Valley → entorno favorable a la innovación y a la iniciativa empresarial 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→ </a:t>
            </a:r>
            <a:r>
              <a:rPr lang="es" sz="1300" b="1">
                <a:solidFill>
                  <a:schemeClr val="dk1"/>
                </a:solidFill>
              </a:rPr>
              <a:t>renovación del capitalismo empresarial en EE.UU. </a:t>
            </a:r>
            <a:r>
              <a:rPr lang="es" sz="1300">
                <a:solidFill>
                  <a:schemeClr val="dk1"/>
                </a:solidFill>
              </a:rPr>
              <a:t>→ filantropía de apoyo a los emprendedores 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→  </a:t>
            </a:r>
            <a:r>
              <a:rPr lang="es" sz="1300" i="1">
                <a:solidFill>
                  <a:schemeClr val="dk1"/>
                </a:solidFill>
              </a:rPr>
              <a:t>“Innovación, creatividad, estrategia y monopolio en el capitalismo empresarial. El caso de Bill Gates y Microsoft”</a:t>
            </a:r>
            <a:endParaRPr sz="1300" i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</a:rPr>
              <a:t>→ los cambios a partir de la segunda ruptura industrial →  </a:t>
            </a:r>
            <a:r>
              <a:rPr lang="es" sz="1300" b="1">
                <a:solidFill>
                  <a:schemeClr val="dk1"/>
                </a:solidFill>
              </a:rPr>
              <a:t>revitalizaron la función empresaria</a:t>
            </a:r>
            <a:r>
              <a:rPr lang="es" b="1">
                <a:solidFill>
                  <a:schemeClr val="dk1"/>
                </a:solidFill>
              </a:rPr>
              <a:t>l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</a:t>
            </a:r>
            <a:r>
              <a:rPr lang="es" b="1">
                <a:solidFill>
                  <a:schemeClr val="dk1"/>
                </a:solidFill>
              </a:rPr>
              <a:t>nuevos sectores</a:t>
            </a:r>
            <a:r>
              <a:rPr lang="es">
                <a:solidFill>
                  <a:schemeClr val="dk1"/>
                </a:solidFill>
              </a:rPr>
              <a:t> →  las innovaciones procedieron de nuevas empresas (startup)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</a:t>
            </a:r>
            <a:r>
              <a:rPr lang="es" b="1">
                <a:solidFill>
                  <a:schemeClr val="dk1"/>
                </a:solidFill>
              </a:rPr>
              <a:t>nueva clase de empresarios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Una de estas empresas es </a:t>
            </a:r>
            <a:r>
              <a:rPr lang="es" b="1">
                <a:solidFill>
                  <a:schemeClr val="dk1"/>
                </a:solidFill>
              </a:rPr>
              <a:t>Microsoft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" sz="1300">
                <a:solidFill>
                  <a:schemeClr val="dk1"/>
                </a:solidFill>
              </a:rPr>
              <a:t> Ford convirtió el automóvil en un bien de consumo de masas a principio del SXX →   Gates y Microsoft hicieron otros tanto con el software (y la computadora personal) a finales del siglo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El éxito de Gates y Microsoft (una compañía empresarial) reside en 3 claves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Disponer de un gran </a:t>
            </a:r>
            <a:r>
              <a:rPr lang="es" b="1">
                <a:solidFill>
                  <a:schemeClr val="dk1"/>
                </a:solidFill>
              </a:rPr>
              <a:t>conocimiento tecnológico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Microsoft siguió 5 principios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el sector → </a:t>
            </a:r>
            <a:r>
              <a:rPr lang="es" b="1">
                <a:solidFill>
                  <a:schemeClr val="dk1"/>
                </a:solidFill>
              </a:rPr>
              <a:t>elevadas externalidades de red </a:t>
            </a:r>
            <a:r>
              <a:rPr lang="es">
                <a:solidFill>
                  <a:schemeClr val="dk1"/>
                </a:solidFill>
              </a:rPr>
              <a:t>aseguró a Microsoft que fijaba el estándar casi todo el mercado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Gates hizo de Microsoft → una organización de → personas inteligentes, con grandes capacidades y conocimientos tecnológicos, pero también con iniciativa y creatividad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Microsoft ha tenido 2 estructuras administrativas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una formal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otra informal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La empresa se organiza por</a:t>
            </a:r>
            <a:r>
              <a:rPr lang="es" b="1">
                <a:solidFill>
                  <a:schemeClr val="dk1"/>
                </a:solidFill>
              </a:rPr>
              <a:t> grandes grupos especializados </a:t>
            </a:r>
            <a:r>
              <a:rPr lang="es">
                <a:solidFill>
                  <a:schemeClr val="dk1"/>
                </a:solidFill>
              </a:rPr>
              <a:t>en el desarrollo de un producto →  dentro de cada grupo se siguen 2 principios muy básicos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fijación de características y asignación de recursos </a:t>
            </a: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s">
                <a:solidFill>
                  <a:schemeClr val="dk1"/>
                </a:solidFill>
              </a:rPr>
              <a:t>trabajo autónomo de los equipos de cada grupo combinado con sincronización para evaluar el desarrollo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Microsoft → también recurrió a</a:t>
            </a:r>
            <a:r>
              <a:rPr lang="es" b="1">
                <a:solidFill>
                  <a:schemeClr val="dk1"/>
                </a:solidFill>
              </a:rPr>
              <a:t> viejas prácticas del mundo de los negocios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las quejas → Departamento de Justicia de EE.UU. en 1995 → </a:t>
            </a:r>
            <a:r>
              <a:rPr lang="es" b="1">
                <a:solidFill>
                  <a:schemeClr val="dk1"/>
                </a:solidFill>
              </a:rPr>
              <a:t>demanda a Microsoft por prácticas que atentaban contra la libre competencia de mercado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Lo que le dio el éxito a Microsoft fue desarrollar Office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luego la lucha fue con Google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i="1">
                <a:solidFill>
                  <a:schemeClr val="dk1"/>
                </a:solidFill>
              </a:rPr>
              <a:t> </a:t>
            </a:r>
            <a:endParaRPr i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6"/>
          <p:cNvSpPr txBox="1"/>
          <p:nvPr/>
        </p:nvSpPr>
        <p:spPr>
          <a:xfrm>
            <a:off x="0" y="0"/>
            <a:ext cx="90486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La heterogeneidad empresarial y la existencia de redes globales, también son coherentes con otro modelos de organización industrial → </a:t>
            </a:r>
            <a:r>
              <a:rPr lang="es" b="1">
                <a:solidFill>
                  <a:schemeClr val="dk1"/>
                </a:solidFill>
              </a:rPr>
              <a:t> el cluster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es una concentración geográfica de empresas interrelacionadas y de instituciones en un sector concreto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aumentan la productividad de las empresas domiciliadas en la región</a:t>
            </a: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diferencia con los distritos y las redes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→  dinámica virtuosa de los cluster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">
                <a:solidFill>
                  <a:schemeClr val="dk1"/>
                </a:solidFill>
              </a:rPr>
              <a:t>una parte de la ventaja competitiva →  está en el conocimiento contenido en el capital social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u="sng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PresentationFormat>Presentación en pantalla (16:9)</PresentationFormat>
  <Paragraphs>210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Martha R</dc:creator>
  <cp:lastModifiedBy>Fiorella Bisio</cp:lastModifiedBy>
  <cp:revision>3</cp:revision>
  <dcterms:modified xsi:type="dcterms:W3CDTF">2023-02-25T20:19:37Z</dcterms:modified>
</cp:coreProperties>
</file>