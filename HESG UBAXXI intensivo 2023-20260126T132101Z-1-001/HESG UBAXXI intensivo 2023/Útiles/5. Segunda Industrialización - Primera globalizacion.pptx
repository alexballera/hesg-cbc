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19" roundtripDataSignature="AMtx7mhHe1HuPKLMvBgA9fN1UUutpdcH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En blanco" type="blank">
  <p:cSld name="BLANK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ítulo y objetos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ólo el título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Encabezado de sección" type="secHead">
  <p:cSld name="SECTION_HEA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9" name="Google Shape;39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Dos objetos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5" name="Google Shape;45;p2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6" name="Google Shape;46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mparació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2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3" name="Google Shape;53;p2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2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5" name="Google Shape;5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2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5"/>
          <p:cNvSpPr txBox="1"/>
          <p:nvPr>
            <p:ph idx="1" type="body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6"/>
          <p:cNvSpPr txBox="1"/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6"/>
          <p:cNvSpPr txBox="1"/>
          <p:nvPr>
            <p:ph idx="1" type="body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gif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jpg"/><Relationship Id="rId4" Type="http://schemas.openxmlformats.org/officeDocument/2006/relationships/image" Target="../media/image1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Relationship Id="rId4" Type="http://schemas.openxmlformats.org/officeDocument/2006/relationships/image" Target="../media/image7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gif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jpg"/><Relationship Id="rId4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4400"/>
              <a:buFont typeface="Calibri"/>
              <a:buNone/>
            </a:pPr>
            <a:r>
              <a:rPr lang="es-ES">
                <a:solidFill>
                  <a:srgbClr val="7030A0"/>
                </a:solidFill>
              </a:rPr>
              <a:t>SEGUNDA INDUSTRIALIZACIÓN</a:t>
            </a:r>
            <a:endParaRPr>
              <a:solidFill>
                <a:srgbClr val="7030A0"/>
              </a:solidFill>
            </a:endParaRPr>
          </a:p>
        </p:txBody>
      </p:sp>
      <p:sp>
        <p:nvSpPr>
          <p:cNvPr id="89" name="Google Shape;89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None/>
            </a:pPr>
            <a:r>
              <a:rPr lang="es-ES">
                <a:solidFill>
                  <a:srgbClr val="FF0000"/>
                </a:solidFill>
              </a:rPr>
              <a:t>PRIMERA GLOBALIZACIÓN</a:t>
            </a:r>
            <a:endParaRPr/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rgbClr val="FF0000"/>
              </a:buClr>
              <a:buSzPts val="3200"/>
              <a:buNone/>
            </a:pPr>
            <a:r>
              <a:rPr lang="es-ES">
                <a:solidFill>
                  <a:srgbClr val="FF0000"/>
                </a:solidFill>
              </a:rPr>
              <a:t>1870-1913</a:t>
            </a:r>
            <a:endParaRPr>
              <a:solidFill>
                <a:srgbClr val="FF0000"/>
              </a:solidFill>
            </a:endParaRPr>
          </a:p>
        </p:txBody>
      </p:sp>
      <p:pic>
        <p:nvPicPr>
          <p:cNvPr descr="C:\Users\alba\Pictures\revolucionindustrial.gif" id="90" name="Google Shape;9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57356" y="285728"/>
            <a:ext cx="5264204" cy="2117924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97" name="Google Shape;97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descr="C:\Users\Cecilia\Downloads\NuevoDocumento 2018-08-07_2.jpg" id="98" name="Google Shape;9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834008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/>
          <p:cNvSpPr/>
          <p:nvPr/>
        </p:nvSpPr>
        <p:spPr>
          <a:xfrm>
            <a:off x="428596" y="428604"/>
            <a:ext cx="1143008" cy="5929354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428596" y="428604"/>
            <a:ext cx="7786742" cy="1357322"/>
          </a:xfrm>
          <a:prstGeom prst="rect">
            <a:avLst/>
          </a:prstGeom>
          <a:noFill/>
          <a:ln cap="flat" cmpd="sng" w="5715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7858148" y="2786058"/>
            <a:ext cx="1285852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ES" sz="1800" u="sng" cap="none" strike="noStrike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La formación de un mercado de extensión mundial</a:t>
            </a:r>
            <a:endParaRPr/>
          </a:p>
        </p:txBody>
      </p:sp>
      <p:sp>
        <p:nvSpPr>
          <p:cNvPr id="102" name="Google Shape;102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Cecilia\Downloads\NuevoDocumento 2018-08-08.jpg" id="107" name="Google Shape;10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85728"/>
            <a:ext cx="9144000" cy="6143668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/>
          <p:nvPr>
            <p:ph idx="1" type="body"/>
          </p:nvPr>
        </p:nvSpPr>
        <p:spPr>
          <a:xfrm>
            <a:off x="785786" y="785794"/>
            <a:ext cx="8358214" cy="56436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5425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50"/>
              <a:buNone/>
            </a:pPr>
            <a:r>
              <a:t/>
            </a:r>
            <a:endParaRPr sz="1850" u="sng">
              <a:solidFill>
                <a:srgbClr val="974806"/>
              </a:solidFill>
            </a:endParaRPr>
          </a:p>
          <a:p>
            <a:pPr indent="-225425" lvl="0" marL="342900" rtl="0" algn="l">
              <a:lnSpc>
                <a:spcPct val="9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1850"/>
              <a:buNone/>
            </a:pPr>
            <a:r>
              <a:t/>
            </a:r>
            <a:endParaRPr sz="1850" u="sng">
              <a:solidFill>
                <a:srgbClr val="974806"/>
              </a:solidFill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333"/>
              </a:spcBef>
              <a:spcAft>
                <a:spcPts val="0"/>
              </a:spcAft>
              <a:buClr>
                <a:srgbClr val="974806"/>
              </a:buClr>
              <a:buSzPts val="1665"/>
              <a:buChar char="•"/>
            </a:pPr>
            <a:r>
              <a:rPr lang="es-ES" sz="1665" u="sng">
                <a:solidFill>
                  <a:srgbClr val="974806"/>
                </a:solidFill>
              </a:rPr>
              <a:t>La Nueva Siderurgia</a:t>
            </a:r>
            <a:r>
              <a:rPr lang="es-ES" sz="1480">
                <a:solidFill>
                  <a:srgbClr val="974806"/>
                </a:solidFill>
              </a:rPr>
              <a:t>.</a:t>
            </a:r>
            <a:endParaRPr sz="1480">
              <a:solidFill>
                <a:srgbClr val="974806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296"/>
              </a:spcBef>
              <a:spcAft>
                <a:spcPts val="0"/>
              </a:spcAft>
              <a:buClr>
                <a:schemeClr val="dk1"/>
              </a:buClr>
              <a:buSzPts val="1480"/>
              <a:buNone/>
            </a:pPr>
            <a:r>
              <a:rPr lang="es-ES" sz="1480"/>
              <a:t>Transformaba </a:t>
            </a:r>
            <a:r>
              <a:rPr b="1" lang="es-ES" sz="1480"/>
              <a:t>níquel</a:t>
            </a:r>
            <a:r>
              <a:rPr lang="es-ES" sz="1480"/>
              <a:t>, </a:t>
            </a:r>
            <a:r>
              <a:rPr b="1" lang="es-ES" sz="1480"/>
              <a:t>aluminio</a:t>
            </a:r>
            <a:r>
              <a:rPr lang="es-ES" sz="1480"/>
              <a:t> y otros metales. El </a:t>
            </a:r>
            <a:r>
              <a:rPr b="1" lang="es-ES" sz="1480"/>
              <a:t>hierro</a:t>
            </a:r>
            <a:r>
              <a:rPr lang="es-ES" sz="1480"/>
              <a:t> se sometió a novedosos procesos de refinado a través del convertidor de </a:t>
            </a:r>
            <a:r>
              <a:rPr i="1" lang="es-ES" sz="1480"/>
              <a:t>Bessemer</a:t>
            </a:r>
            <a:r>
              <a:rPr lang="es-ES" sz="1480"/>
              <a:t> o el de </a:t>
            </a:r>
            <a:r>
              <a:rPr i="1" lang="es-ES" sz="1480"/>
              <a:t>Siemens-Martin</a:t>
            </a:r>
            <a:r>
              <a:rPr lang="es-ES" sz="1480"/>
              <a:t>, favoreciendo el desarrollo de la industria de </a:t>
            </a:r>
            <a:r>
              <a:rPr b="1" lang="es-ES" sz="1480"/>
              <a:t>armamentos</a:t>
            </a:r>
            <a:r>
              <a:rPr lang="es-ES" sz="1480"/>
              <a:t> que habría de alcanzar una progresión sin precedentes en los años previos a la I Guerra Mundial.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296"/>
              </a:spcBef>
              <a:spcAft>
                <a:spcPts val="0"/>
              </a:spcAft>
              <a:buClr>
                <a:schemeClr val="dk1"/>
              </a:buClr>
              <a:buSzPts val="1480"/>
              <a:buNone/>
            </a:pPr>
            <a:r>
              <a:rPr lang="es-ES" sz="1480"/>
              <a:t>+ 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296"/>
              </a:spcBef>
              <a:spcAft>
                <a:spcPts val="0"/>
              </a:spcAft>
              <a:buClr>
                <a:schemeClr val="dk1"/>
              </a:buClr>
              <a:buSzPts val="1480"/>
              <a:buNone/>
            </a:pPr>
            <a:r>
              <a:rPr lang="es-ES" sz="1480"/>
              <a:t>Desarrollo de industria de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296"/>
              </a:spcBef>
              <a:spcAft>
                <a:spcPts val="0"/>
              </a:spcAft>
              <a:buClr>
                <a:schemeClr val="dk1"/>
              </a:buClr>
              <a:buSzPts val="1480"/>
              <a:buNone/>
            </a:pPr>
            <a:r>
              <a:rPr lang="es-ES" sz="1480"/>
              <a:t> maquinarias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296"/>
              </a:spcBef>
              <a:spcAft>
                <a:spcPts val="0"/>
              </a:spcAft>
              <a:buClr>
                <a:schemeClr val="dk1"/>
              </a:buClr>
              <a:buSzPts val="1480"/>
              <a:buNone/>
            </a:pPr>
            <a:r>
              <a:rPr lang="es-ES" sz="1480"/>
              <a:t> y bienes de equipo</a:t>
            </a:r>
            <a:endParaRPr sz="1480"/>
          </a:p>
          <a:p>
            <a:pPr indent="0" lvl="0" marL="0" rtl="0" algn="ctr">
              <a:lnSpc>
                <a:spcPct val="90000"/>
              </a:lnSpc>
              <a:spcBef>
                <a:spcPts val="296"/>
              </a:spcBef>
              <a:spcAft>
                <a:spcPts val="0"/>
              </a:spcAft>
              <a:buClr>
                <a:schemeClr val="dk1"/>
              </a:buClr>
              <a:buSzPts val="1480"/>
              <a:buNone/>
            </a:pPr>
            <a:r>
              <a:t/>
            </a:r>
            <a:endParaRPr sz="1480"/>
          </a:p>
          <a:p>
            <a:pPr indent="0" lvl="0" marL="0" rtl="0" algn="ctr">
              <a:lnSpc>
                <a:spcPct val="90000"/>
              </a:lnSpc>
              <a:spcBef>
                <a:spcPts val="296"/>
              </a:spcBef>
              <a:spcAft>
                <a:spcPts val="0"/>
              </a:spcAft>
              <a:buClr>
                <a:schemeClr val="dk1"/>
              </a:buClr>
              <a:buSzPts val="1480"/>
              <a:buNone/>
            </a:pPr>
            <a:r>
              <a:t/>
            </a:r>
            <a:endParaRPr sz="1480"/>
          </a:p>
          <a:p>
            <a:pPr indent="0" lvl="0" marL="0" rtl="0" algn="ctr">
              <a:lnSpc>
                <a:spcPct val="90000"/>
              </a:lnSpc>
              <a:spcBef>
                <a:spcPts val="259"/>
              </a:spcBef>
              <a:spcAft>
                <a:spcPts val="0"/>
              </a:spcAft>
              <a:buClr>
                <a:schemeClr val="dk1"/>
              </a:buClr>
              <a:buSzPts val="1295"/>
              <a:buNone/>
            </a:pPr>
            <a:r>
              <a:t/>
            </a:r>
            <a:endParaRPr sz="1295"/>
          </a:p>
          <a:p>
            <a:pPr indent="0" lvl="0" marL="0" rtl="0" algn="ctr">
              <a:lnSpc>
                <a:spcPct val="90000"/>
              </a:lnSpc>
              <a:spcBef>
                <a:spcPts val="296"/>
              </a:spcBef>
              <a:spcAft>
                <a:spcPts val="0"/>
              </a:spcAft>
              <a:buClr>
                <a:schemeClr val="dk1"/>
              </a:buClr>
              <a:buSzPts val="1480"/>
              <a:buNone/>
            </a:pPr>
            <a:r>
              <a:t/>
            </a:r>
            <a:endParaRPr sz="1480"/>
          </a:p>
          <a:p>
            <a:pPr indent="0" lvl="0" marL="0" rtl="0" algn="ctr">
              <a:lnSpc>
                <a:spcPct val="9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590"/>
              <a:buNone/>
            </a:pPr>
            <a:r>
              <a:t/>
            </a:r>
            <a:endParaRPr sz="2590"/>
          </a:p>
          <a:p>
            <a:pPr indent="0" lvl="0" marL="0" rtl="0" algn="ctr">
              <a:lnSpc>
                <a:spcPct val="90000"/>
              </a:lnSpc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5"/>
              <a:buNone/>
            </a:pPr>
            <a:r>
              <a:t/>
            </a:r>
            <a:endParaRPr sz="1665"/>
          </a:p>
          <a:p>
            <a:pPr indent="0" lvl="0" marL="0" rtl="0" algn="l">
              <a:lnSpc>
                <a:spcPct val="90000"/>
              </a:lnSpc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5"/>
              <a:buNone/>
            </a:pPr>
            <a:r>
              <a:rPr lang="es-ES" sz="1665"/>
              <a:t>* </a:t>
            </a:r>
            <a:r>
              <a:rPr lang="es-ES" sz="1665" u="sng">
                <a:solidFill>
                  <a:srgbClr val="974806"/>
                </a:solidFill>
              </a:rPr>
              <a:t>La Industria química</a:t>
            </a:r>
            <a:r>
              <a:rPr lang="es-ES" sz="1665">
                <a:solidFill>
                  <a:srgbClr val="974806"/>
                </a:solidFill>
              </a:rPr>
              <a:t>:  🡪 Fabricación de explosivos- productos farmacéuticos- perfumes – colorantes para la industria textil- nuevas fibras- productos utilizados en la agricultura y en la producción y conservación de alimentos (fertilizantes artificiales, pausterización de la leche, refinación del azucar, conservación de la carne, etc)</a:t>
            </a:r>
            <a:endParaRPr sz="1480">
              <a:solidFill>
                <a:srgbClr val="974806"/>
              </a:solidFill>
            </a:endParaRPr>
          </a:p>
        </p:txBody>
      </p:sp>
      <p:pic>
        <p:nvPicPr>
          <p:cNvPr descr="C:\Users\alba\Pictures\imagesCA9D720P.jpg" id="114" name="Google Shape;11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00760" y="2928934"/>
            <a:ext cx="2466975" cy="1847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4"/>
          <p:cNvSpPr/>
          <p:nvPr/>
        </p:nvSpPr>
        <p:spPr>
          <a:xfrm>
            <a:off x="0" y="0"/>
            <a:ext cx="3286116" cy="954107"/>
          </a:xfrm>
          <a:prstGeom prst="rect">
            <a:avLst/>
          </a:prstGeom>
          <a:noFill/>
          <a:ln cap="flat" cmpd="sng" w="952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ES" sz="2800" u="sng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INNOVACIONES TECNOLÓGICAS</a:t>
            </a:r>
            <a:endParaRPr/>
          </a:p>
        </p:txBody>
      </p:sp>
      <p:sp>
        <p:nvSpPr>
          <p:cNvPr id="116" name="Google Shape;116;p4"/>
          <p:cNvSpPr/>
          <p:nvPr/>
        </p:nvSpPr>
        <p:spPr>
          <a:xfrm>
            <a:off x="4857752" y="285728"/>
            <a:ext cx="1571636" cy="523220"/>
          </a:xfrm>
          <a:prstGeom prst="rect">
            <a:avLst/>
          </a:prstGeom>
          <a:noFill/>
          <a:ln cap="flat" cmpd="sng" w="952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ES" sz="2800" u="sng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I &amp; D</a:t>
            </a:r>
            <a:endParaRPr/>
          </a:p>
        </p:txBody>
      </p:sp>
      <p:cxnSp>
        <p:nvCxnSpPr>
          <p:cNvPr id="117" name="Google Shape;117;p4"/>
          <p:cNvCxnSpPr/>
          <p:nvPr/>
        </p:nvCxnSpPr>
        <p:spPr>
          <a:xfrm>
            <a:off x="3571868" y="571480"/>
            <a:ext cx="928694" cy="1588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pic>
        <p:nvPicPr>
          <p:cNvPr descr="Resultado de imagen para segunda revolucion industrial" id="118" name="Google Shape;11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2714620"/>
            <a:ext cx="1714512" cy="2357454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s-ES">
                <a:solidFill>
                  <a:srgbClr val="002060"/>
                </a:solidFill>
              </a:rPr>
              <a:t>‹#›</a:t>
            </a:fld>
            <a:endParaRPr b="1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"/>
          <p:cNvSpPr txBox="1"/>
          <p:nvPr/>
        </p:nvSpPr>
        <p:spPr>
          <a:xfrm>
            <a:off x="3214678" y="2500306"/>
            <a:ext cx="2143140" cy="923330"/>
          </a:xfrm>
          <a:prstGeom prst="rect">
            <a:avLst/>
          </a:prstGeom>
          <a:noFill/>
          <a:ln cap="flat" cmpd="sng" w="3810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REVOLUCIÓN EN TRANSPORTES Y COMUNICACIONES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2357422" y="214290"/>
            <a:ext cx="1785950" cy="369332"/>
          </a:xfrm>
          <a:prstGeom prst="rect">
            <a:avLst/>
          </a:prstGeom>
          <a:noFill/>
          <a:ln cap="flat" cmpd="sng" w="952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ES" sz="1800" u="sng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FERROCARRILES</a:t>
            </a:r>
            <a:endParaRPr/>
          </a:p>
        </p:txBody>
      </p:sp>
      <p:sp>
        <p:nvSpPr>
          <p:cNvPr id="126" name="Google Shape;126;p5"/>
          <p:cNvSpPr/>
          <p:nvPr/>
        </p:nvSpPr>
        <p:spPr>
          <a:xfrm>
            <a:off x="142844" y="142852"/>
            <a:ext cx="2214578" cy="3662541"/>
          </a:xfrm>
          <a:prstGeom prst="rect">
            <a:avLst/>
          </a:prstGeom>
          <a:noFill/>
          <a:ln cap="flat" cmpd="sng" w="952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EUROPA🡪 MERCADO CONTINENTAL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MOTOR DE LA EXPANSIÓN INDUSTRIAL HASTA 1870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REQUIRIERON GRANDES INVERSIONES DE CAPITAL</a:t>
            </a:r>
            <a:endParaRPr/>
          </a:p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🡪 NACIONAL (PRIVADO O ESTATAL) 🡪 </a:t>
            </a: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PRIMEROS PAÍSES INDUSTRIALIZADOS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🡪 EXTERNO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4000496" y="1428736"/>
            <a:ext cx="1785950" cy="369332"/>
          </a:xfrm>
          <a:prstGeom prst="rect">
            <a:avLst/>
          </a:prstGeom>
          <a:noFill/>
          <a:ln cap="flat" cmpd="sng" w="952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ES" sz="1800" u="sng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NAVEGACIÓN</a:t>
            </a: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5786446" y="142852"/>
            <a:ext cx="3143272" cy="2800767"/>
          </a:xfrm>
          <a:prstGeom prst="rect">
            <a:avLst/>
          </a:prstGeom>
          <a:noFill/>
          <a:ln cap="flat" cmpd="sng" w="952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MEJORAS TECNOLÓGICAS + REDUCCIÓN EN COSTOS DE PRODUCCIÓN DEL CARBÓN Y EL ACERO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AUMENTO DEL VOLUMEN TRANSPORTADO + REDUCCIÓN DE COSTOS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INTEGRACIÓN ECONÓMICA MUNDIAL</a:t>
            </a:r>
            <a:endParaRPr/>
          </a:p>
        </p:txBody>
      </p:sp>
      <p:sp>
        <p:nvSpPr>
          <p:cNvPr id="129" name="Google Shape;129;p5"/>
          <p:cNvSpPr/>
          <p:nvPr/>
        </p:nvSpPr>
        <p:spPr>
          <a:xfrm rot="9605980">
            <a:off x="3084034" y="662617"/>
            <a:ext cx="136495" cy="1731384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 flipH="1" rot="9605980">
            <a:off x="4585903" y="1921368"/>
            <a:ext cx="137208" cy="513062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E:\Mis Documentos\COLEGIO\6º Año\HISTORIA\CLASES\NuevoDocumento 8_3.jpg" id="131" name="Google Shape;13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43636" y="3000372"/>
            <a:ext cx="2428892" cy="38576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segunda revolucion industrial" id="132" name="Google Shape;13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4282" y="4500570"/>
            <a:ext cx="5263788" cy="200024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:\Backup\Mis Documentos\FACU\GENERAL\revolucion industrial inglaterra\Mapa expansión  ferrocarril en Europa.jpg" id="138" name="Google Shape;13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11339"/>
            <a:ext cx="9144000" cy="6435322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"/>
          <p:cNvSpPr txBox="1"/>
          <p:nvPr>
            <p:ph type="title"/>
          </p:nvPr>
        </p:nvSpPr>
        <p:spPr>
          <a:xfrm>
            <a:off x="3071802" y="0"/>
            <a:ext cx="5686436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974806"/>
              </a:buClr>
              <a:buSzPts val="3959"/>
              <a:buFont typeface="Calibri"/>
              <a:buNone/>
            </a:pPr>
            <a:r>
              <a:rPr i="1" lang="es-ES" sz="3959">
                <a:solidFill>
                  <a:srgbClr val="974806"/>
                </a:solidFill>
              </a:rPr>
              <a:t>El empleo de nuevas fuentes de energía</a:t>
            </a:r>
            <a:endParaRPr i="1" sz="3959">
              <a:solidFill>
                <a:srgbClr val="974806"/>
              </a:solidFill>
            </a:endParaRPr>
          </a:p>
        </p:txBody>
      </p:sp>
      <p:sp>
        <p:nvSpPr>
          <p:cNvPr id="145" name="Google Shape;145;p7"/>
          <p:cNvSpPr txBox="1"/>
          <p:nvPr>
            <p:ph idx="1" type="body"/>
          </p:nvPr>
        </p:nvSpPr>
        <p:spPr>
          <a:xfrm>
            <a:off x="457200" y="1600200"/>
            <a:ext cx="8229600" cy="50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65"/>
              <a:buNone/>
            </a:pPr>
            <a:r>
              <a:rPr i="1" lang="es-ES" sz="1665"/>
              <a:t>Si el </a:t>
            </a:r>
            <a:r>
              <a:rPr b="1" i="1" lang="es-ES" sz="1665">
                <a:solidFill>
                  <a:srgbClr val="FF0000"/>
                </a:solidFill>
              </a:rPr>
              <a:t>vapo</a:t>
            </a:r>
            <a:r>
              <a:rPr i="1" lang="es-ES" sz="1665">
                <a:solidFill>
                  <a:srgbClr val="FF0000"/>
                </a:solidFill>
              </a:rPr>
              <a:t>r</a:t>
            </a:r>
            <a:r>
              <a:rPr i="1" lang="es-ES" sz="1665"/>
              <a:t> había constituido la principal fuente de energía durante la Primera Revolución Industrial, durante la Segunda, se desarrollaron otras </a:t>
            </a:r>
            <a:r>
              <a:rPr b="1" i="1" lang="es-ES" sz="1665"/>
              <a:t>nuevas</a:t>
            </a:r>
            <a:r>
              <a:rPr i="1" lang="es-ES" sz="1665"/>
              <a:t>: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518"/>
              </a:spcBef>
              <a:spcAft>
                <a:spcPts val="0"/>
              </a:spcAft>
              <a:buClr>
                <a:srgbClr val="974806"/>
              </a:buClr>
              <a:buSzPts val="2590"/>
              <a:buNone/>
            </a:pPr>
            <a:r>
              <a:rPr lang="es-ES" sz="2590" u="sng">
                <a:solidFill>
                  <a:srgbClr val="974806"/>
                </a:solidFill>
              </a:rPr>
              <a:t>El Petróleo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388"/>
              </a:spcBef>
              <a:spcAft>
                <a:spcPts val="0"/>
              </a:spcAft>
              <a:buClr>
                <a:schemeClr val="dk1"/>
              </a:buClr>
              <a:buSzPts val="1942"/>
              <a:buNone/>
            </a:pPr>
            <a:r>
              <a:rPr i="1" lang="es-ES" sz="1942"/>
              <a:t>-Se utilizó primero como fuente de iluminación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5"/>
              <a:buNone/>
            </a:pPr>
            <a:r>
              <a:rPr i="1" lang="es-ES" sz="1665"/>
              <a:t>-Sirvió de combustible para los motores a combustión interna lo que permitió el desarrollo de la industria automotriz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960"/>
              <a:buNone/>
            </a:pPr>
            <a:r>
              <a:t/>
            </a:r>
            <a:endParaRPr sz="2960"/>
          </a:p>
          <a:p>
            <a:pPr indent="0" lvl="0" marL="0" rtl="0" algn="l">
              <a:lnSpc>
                <a:spcPct val="9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960"/>
              <a:buNone/>
            </a:pPr>
            <a:r>
              <a:t/>
            </a:r>
            <a:endParaRPr sz="2960"/>
          </a:p>
          <a:p>
            <a:pPr indent="0" lvl="0" marL="0" rtl="0" algn="l">
              <a:lnSpc>
                <a:spcPct val="9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960"/>
              <a:buNone/>
            </a:pPr>
            <a:r>
              <a:t/>
            </a:r>
            <a:endParaRPr sz="2960"/>
          </a:p>
          <a:p>
            <a:pPr indent="-154940" lvl="0" marL="342900" rtl="0" algn="l">
              <a:lnSpc>
                <a:spcPct val="9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960"/>
              <a:buNone/>
            </a:pPr>
            <a:r>
              <a:t/>
            </a:r>
            <a:endParaRPr sz="2960"/>
          </a:p>
          <a:p>
            <a:pPr indent="0" lvl="0" marL="0" rtl="0" algn="l">
              <a:lnSpc>
                <a:spcPct val="9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960"/>
              <a:buNone/>
            </a:pPr>
            <a:r>
              <a:t/>
            </a:r>
            <a:endParaRPr sz="2960"/>
          </a:p>
          <a:p>
            <a:pPr indent="-154940" lvl="0" marL="342900" rtl="0" algn="l">
              <a:lnSpc>
                <a:spcPct val="9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960"/>
              <a:buNone/>
            </a:pPr>
            <a:r>
              <a:t/>
            </a:r>
            <a:endParaRPr sz="2960"/>
          </a:p>
          <a:p>
            <a:pPr indent="0" lvl="0" marL="0" rtl="0" algn="ctr">
              <a:lnSpc>
                <a:spcPct val="9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960"/>
              <a:buNone/>
            </a:pPr>
            <a:r>
              <a:rPr lang="es-ES" sz="2960"/>
              <a:t> 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960"/>
              <a:buNone/>
            </a:pPr>
            <a:r>
              <a:rPr lang="es-ES" sz="2960"/>
              <a:t> </a:t>
            </a:r>
            <a:r>
              <a:rPr lang="es-ES" sz="2960" u="sng">
                <a:solidFill>
                  <a:srgbClr val="974806"/>
                </a:solidFill>
              </a:rPr>
              <a:t>La electricidad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388"/>
              </a:spcBef>
              <a:spcAft>
                <a:spcPts val="0"/>
              </a:spcAft>
              <a:buClr>
                <a:schemeClr val="dk1"/>
              </a:buClr>
              <a:buSzPts val="1942"/>
              <a:buNone/>
            </a:pPr>
            <a:r>
              <a:rPr i="1" lang="es-ES" sz="1942"/>
              <a:t>Su aplicación fue esencial  para la </a:t>
            </a:r>
            <a:r>
              <a:rPr b="1" i="1" lang="es-ES" sz="1942"/>
              <a:t>iluminación</a:t>
            </a:r>
            <a:r>
              <a:rPr i="1" lang="es-ES" sz="1942"/>
              <a:t> (Bombilla de Edison, 1879), la </a:t>
            </a:r>
            <a:r>
              <a:rPr b="1" i="1" lang="es-ES" sz="1942"/>
              <a:t>transmisión</a:t>
            </a:r>
            <a:r>
              <a:rPr i="1" lang="es-ES" sz="1942"/>
              <a:t> de señales electromagnéticas (telégrafo), acústicas (radio de Marconi) y en determinados </a:t>
            </a:r>
            <a:r>
              <a:rPr b="1" i="1" lang="es-ES" sz="1942"/>
              <a:t>motores</a:t>
            </a:r>
            <a:r>
              <a:rPr i="1" lang="es-ES" sz="1942"/>
              <a:t> como los que propulsaban metros y tranvías.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388"/>
              </a:spcBef>
              <a:spcAft>
                <a:spcPts val="0"/>
              </a:spcAft>
              <a:buClr>
                <a:schemeClr val="dk1"/>
              </a:buClr>
              <a:buSzPts val="1942"/>
              <a:buNone/>
            </a:pPr>
            <a:r>
              <a:t/>
            </a:r>
            <a:endParaRPr i="1" sz="1942"/>
          </a:p>
          <a:p>
            <a:pPr indent="0" lvl="0" marL="0" rtl="0" algn="l">
              <a:lnSpc>
                <a:spcPct val="9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960"/>
              <a:buNone/>
            </a:pPr>
            <a:r>
              <a:t/>
            </a:r>
            <a:endParaRPr sz="2960"/>
          </a:p>
          <a:p>
            <a:pPr indent="-154940" lvl="0" marL="342900" rtl="0" algn="l">
              <a:lnSpc>
                <a:spcPct val="9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960"/>
              <a:buNone/>
            </a:pPr>
            <a:r>
              <a:t/>
            </a:r>
            <a:endParaRPr sz="2960"/>
          </a:p>
        </p:txBody>
      </p:sp>
      <p:pic>
        <p:nvPicPr>
          <p:cNvPr descr="C:\Users\alba\Pictures\+fordt.jpg" id="146" name="Google Shape;14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3648" y="4509120"/>
            <a:ext cx="2453541" cy="18340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alba\Pictures\+edison.jpg" id="147" name="Google Shape;14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12160" y="1268760"/>
            <a:ext cx="1296144" cy="1848114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7"/>
          <p:cNvSpPr/>
          <p:nvPr/>
        </p:nvSpPr>
        <p:spPr>
          <a:xfrm>
            <a:off x="214282" y="142852"/>
            <a:ext cx="1785950" cy="1384995"/>
          </a:xfrm>
          <a:prstGeom prst="rect">
            <a:avLst/>
          </a:prstGeom>
          <a:noFill/>
          <a:ln cap="flat" cmpd="sng" w="952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ES" sz="2800" u="sng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FUENTES DE ENERGÍA</a:t>
            </a: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4429124" y="6143644"/>
            <a:ext cx="4500594" cy="523220"/>
          </a:xfrm>
          <a:prstGeom prst="rect">
            <a:avLst/>
          </a:prstGeom>
          <a:noFill/>
          <a:ln cap="flat" cmpd="sng" w="952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PEUGOT-RENAULT-CITROEN-MORRIS-BENZ- HENRY FORD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PHILIPS-SIEMENS-GENERAL ELECTRIC- WESTINGHOUSE</a:t>
            </a:r>
            <a:endParaRPr/>
          </a:p>
        </p:txBody>
      </p:sp>
      <p:sp>
        <p:nvSpPr>
          <p:cNvPr id="150" name="Google Shape;150;p7"/>
          <p:cNvSpPr txBox="1"/>
          <p:nvPr/>
        </p:nvSpPr>
        <p:spPr>
          <a:xfrm>
            <a:off x="2500298" y="1071546"/>
            <a:ext cx="92869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CARBÓN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1" name="Google Shape;151;p7"/>
          <p:cNvCxnSpPr/>
          <p:nvPr/>
        </p:nvCxnSpPr>
        <p:spPr>
          <a:xfrm flipH="1" rot="10800000">
            <a:off x="1714480" y="1285860"/>
            <a:ext cx="857256" cy="428628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52" name="Google Shape;152;p7"/>
          <p:cNvCxnSpPr/>
          <p:nvPr/>
        </p:nvCxnSpPr>
        <p:spPr>
          <a:xfrm flipH="1">
            <a:off x="3286116" y="1214422"/>
            <a:ext cx="1928826" cy="1571636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53" name="Google Shape;153;p7"/>
          <p:cNvCxnSpPr/>
          <p:nvPr/>
        </p:nvCxnSpPr>
        <p:spPr>
          <a:xfrm flipH="1" rot="-5400000">
            <a:off x="4572000" y="1857364"/>
            <a:ext cx="1928826" cy="642942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54" name="Google Shape;154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s-ES" sz="1400">
                <a:solidFill>
                  <a:srgbClr val="FF0000"/>
                </a:solidFill>
              </a:rPr>
              <a:t>‹#›</a:t>
            </a:fld>
            <a:endParaRPr b="1" sz="14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"/>
          <p:cNvSpPr txBox="1"/>
          <p:nvPr>
            <p:ph type="title"/>
          </p:nvPr>
        </p:nvSpPr>
        <p:spPr>
          <a:xfrm>
            <a:off x="457200" y="274638"/>
            <a:ext cx="8229600" cy="9941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s-ES">
                <a:solidFill>
                  <a:srgbClr val="FF0000"/>
                </a:solidFill>
              </a:rPr>
              <a:t>REVOLUCIÓN TECNOLÓGICA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60" name="Google Shape;160;p8"/>
          <p:cNvSpPr txBox="1"/>
          <p:nvPr>
            <p:ph idx="1" type="body"/>
          </p:nvPr>
        </p:nvSpPr>
        <p:spPr>
          <a:xfrm>
            <a:off x="467544" y="1196753"/>
            <a:ext cx="8229600" cy="15121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80"/>
              <a:buChar char="•"/>
            </a:pPr>
            <a:r>
              <a:rPr lang="es-ES" sz="2480"/>
              <a:t>Capacidad para transformar el sistema productivo en su conjunto 🡪 impacto global en :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ts val="2480"/>
              <a:buNone/>
            </a:pPr>
            <a:r>
              <a:rPr lang="es-ES" sz="2480"/>
              <a:t>          - las formas socio-institucionales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ts val="2480"/>
              <a:buNone/>
            </a:pPr>
            <a:r>
              <a:rPr lang="es-ES" sz="2480"/>
              <a:t>          - el régimen de acumulación de capital</a:t>
            </a:r>
            <a:endParaRPr/>
          </a:p>
        </p:txBody>
      </p:sp>
      <p:sp>
        <p:nvSpPr>
          <p:cNvPr id="161" name="Google Shape;161;p8"/>
          <p:cNvSpPr txBox="1"/>
          <p:nvPr/>
        </p:nvSpPr>
        <p:spPr>
          <a:xfrm>
            <a:off x="755576" y="3573016"/>
            <a:ext cx="2857520" cy="36933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INNOVACIONES RADICALES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 txBox="1"/>
          <p:nvPr/>
        </p:nvSpPr>
        <p:spPr>
          <a:xfrm>
            <a:off x="3779912" y="3573016"/>
            <a:ext cx="3816424" cy="36933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INNOVACIONES INCREMENTALES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3" name="Google Shape;163;p8"/>
          <p:cNvCxnSpPr/>
          <p:nvPr/>
        </p:nvCxnSpPr>
        <p:spPr>
          <a:xfrm flipH="1" rot="5400000">
            <a:off x="3455021" y="2097707"/>
            <a:ext cx="3155812" cy="2650046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64" name="Google Shape;164;p8"/>
          <p:cNvSpPr txBox="1"/>
          <p:nvPr/>
        </p:nvSpPr>
        <p:spPr>
          <a:xfrm>
            <a:off x="755576" y="4365104"/>
            <a:ext cx="2857520" cy="64633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INICIAN RUMBO TECNOLÓGICO NUEVO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5" name="Google Shape;165;p8"/>
          <p:cNvCxnSpPr/>
          <p:nvPr/>
        </p:nvCxnSpPr>
        <p:spPr>
          <a:xfrm flipH="1">
            <a:off x="3635896" y="4005064"/>
            <a:ext cx="1368152" cy="504056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66" name="Google Shape;166;p8"/>
          <p:cNvSpPr txBox="1"/>
          <p:nvPr/>
        </p:nvSpPr>
        <p:spPr>
          <a:xfrm>
            <a:off x="5364088" y="5085184"/>
            <a:ext cx="2857520" cy="36933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PARADIGMA TECNOLÓGICO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7" name="Google Shape;167;p8"/>
          <p:cNvCxnSpPr/>
          <p:nvPr/>
        </p:nvCxnSpPr>
        <p:spPr>
          <a:xfrm>
            <a:off x="1835696" y="4005064"/>
            <a:ext cx="72008" cy="288032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68" name="Google Shape;168;p8"/>
          <p:cNvCxnSpPr/>
          <p:nvPr/>
        </p:nvCxnSpPr>
        <p:spPr>
          <a:xfrm flipH="1" rot="10800000">
            <a:off x="2500298" y="3933056"/>
            <a:ext cx="5096038" cy="1710522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9" name="Google Shape;169;p8"/>
          <p:cNvCxnSpPr/>
          <p:nvPr/>
        </p:nvCxnSpPr>
        <p:spPr>
          <a:xfrm rot="10800000">
            <a:off x="1979712" y="5229200"/>
            <a:ext cx="504056" cy="432048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0" name="Google Shape;170;p8"/>
          <p:cNvCxnSpPr/>
          <p:nvPr/>
        </p:nvCxnSpPr>
        <p:spPr>
          <a:xfrm flipH="1" rot="-5400000">
            <a:off x="6612258" y="4389138"/>
            <a:ext cx="654912" cy="449148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71" name="Google Shape;171;p8"/>
          <p:cNvSpPr txBox="1"/>
          <p:nvPr/>
        </p:nvSpPr>
        <p:spPr>
          <a:xfrm>
            <a:off x="611560" y="2708920"/>
            <a:ext cx="7704856" cy="64633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INNOVACIONES EN INSUMOS, PRODUCTOS Y PROCESOS + INNOVACIONES INSTITUCIONALES, ORGANIZATIVAS Y GERENCIALES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 txBox="1"/>
          <p:nvPr/>
        </p:nvSpPr>
        <p:spPr>
          <a:xfrm>
            <a:off x="214282" y="5934670"/>
            <a:ext cx="8715436" cy="92333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“FACTOR LLAVE” </a:t>
            </a: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🡪Costo bajo y en descenso + oferta ilimitada + múltiples usos + núcleo de innovaciones radicales + desarrollar aumento de productividad en todo el aparato productivo + modificar la estructura de costos relativos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3" name="Google Shape;173;p8"/>
          <p:cNvCxnSpPr/>
          <p:nvPr/>
        </p:nvCxnSpPr>
        <p:spPr>
          <a:xfrm flipH="1">
            <a:off x="1000100" y="5429264"/>
            <a:ext cx="4429156" cy="428628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74" name="Google Shape;174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CANAL DE SUEZ" id="179" name="Google Shape;17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7158" y="142852"/>
            <a:ext cx="3714776" cy="3253083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9"/>
          <p:cNvSpPr txBox="1"/>
          <p:nvPr/>
        </p:nvSpPr>
        <p:spPr>
          <a:xfrm>
            <a:off x="5000628" y="642918"/>
            <a:ext cx="321471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CANAL DE SUEZ: ZONA NEUTRAL BAJO PROTECCION BRITANICA DESDE 1888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sultado de imagen para CANAL DE PANAMA" id="181" name="Google Shape;18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86182" y="3714752"/>
            <a:ext cx="5155721" cy="2882081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9"/>
          <p:cNvSpPr txBox="1"/>
          <p:nvPr/>
        </p:nvSpPr>
        <p:spPr>
          <a:xfrm>
            <a:off x="1142976" y="4000504"/>
            <a:ext cx="24288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CANAL DE PANAMÁ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pic>
        <p:nvPicPr>
          <p:cNvPr descr="Resultado de imagen para comercio internacional siglo xix" id="189" name="Google Shape;18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8596" y="571480"/>
            <a:ext cx="8408618" cy="522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comercio mundial siglo xix" id="194" name="Google Shape;19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85728"/>
            <a:ext cx="9144000" cy="6111861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1"/>
          <p:cNvSpPr/>
          <p:nvPr/>
        </p:nvSpPr>
        <p:spPr>
          <a:xfrm>
            <a:off x="428596" y="6427113"/>
            <a:ext cx="8429684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https://laeradehobsbawm.wordpress.com/materiales-sobre-la-era-del-imperio/materiales-para-historia-de-la-era-del-imperio/mapas-para-historia-de-la-era-del-imperio/flujos-comerciales-a-comienzos-del-s-xx/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pic>
        <p:nvPicPr>
          <p:cNvPr descr="Resultado de imagen para colonizacion europea siglo xix" id="201" name="Google Shape;20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8190" y="642918"/>
            <a:ext cx="8281476" cy="56864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pic>
        <p:nvPicPr>
          <p:cNvPr descr="Resultado de imagen para imperialismo japones" id="207" name="Google Shape;20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096703" cy="4357718"/>
          </a:xfrm>
          <a:prstGeom prst="rect">
            <a:avLst/>
          </a:prstGeom>
          <a:noFill/>
          <a:ln>
            <a:noFill/>
          </a:ln>
        </p:spPr>
      </p:pic>
      <p:sp>
        <p:nvSpPr>
          <p:cNvPr descr="Resultado de imagen para imperialismo ruso siglo xix" id="208" name="Google Shape;208;p13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Resultado de imagen para imperialismo ruso siglo xix" id="209" name="Google Shape;209;p13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sultado de imagen para imperialismo ruso siglo xix" id="210" name="Google Shape;210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43250" y="2400300"/>
            <a:ext cx="6000750" cy="445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icin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2019-04-23T14:52:11Z</dcterms:created>
  <dc:creator>Cecilia</dc:creator>
</cp:coreProperties>
</file>