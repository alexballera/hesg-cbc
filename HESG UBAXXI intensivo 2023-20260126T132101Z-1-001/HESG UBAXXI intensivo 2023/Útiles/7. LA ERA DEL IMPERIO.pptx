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Garamon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7" roundtripDataSignature="AMtx7mhsiwY6bSazh+mkruEO7QaF9iYm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Garamond-bold.fntdata"/><Relationship Id="rId23" Type="http://schemas.openxmlformats.org/officeDocument/2006/relationships/font" Target="fonts/Garamon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aramond-boldItalic.fntdata"/><Relationship Id="rId25" Type="http://schemas.openxmlformats.org/officeDocument/2006/relationships/font" Target="fonts/Garamond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objetos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iapositiva de título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olo el título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cabezado de sección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os objetos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ació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hyperlink" Target="https://es.wikipedia.org/wiki/Cecil_Rhodes" TargetMode="External"/><Relationship Id="rId11" Type="http://schemas.openxmlformats.org/officeDocument/2006/relationships/hyperlink" Target="https://es.wikipedia.org/wiki/Nuevo_Imperialismo" TargetMode="External"/><Relationship Id="rId10" Type="http://schemas.openxmlformats.org/officeDocument/2006/relationships/hyperlink" Target="https://es.wikipedia.org/wiki/1892" TargetMode="External"/><Relationship Id="rId9" Type="http://schemas.openxmlformats.org/officeDocument/2006/relationships/hyperlink" Target="https://es.wikipedia.org/wiki/10_de_diciembre" TargetMode="External"/><Relationship Id="rId5" Type="http://schemas.openxmlformats.org/officeDocument/2006/relationships/hyperlink" Target="https://es.wikipedia.org/w/index.php?title=V%C3%ADa_telegr%C3%A1fica&amp;action=edit&amp;redlink=1" TargetMode="External"/><Relationship Id="rId6" Type="http://schemas.openxmlformats.org/officeDocument/2006/relationships/hyperlink" Target="https://es.wikipedia.org/wiki/Ciudad_del_Cabo" TargetMode="External"/><Relationship Id="rId7" Type="http://schemas.openxmlformats.org/officeDocument/2006/relationships/hyperlink" Target="https://es.wikipedia.org/wiki/El_Cairo" TargetMode="External"/><Relationship Id="rId8" Type="http://schemas.openxmlformats.org/officeDocument/2006/relationships/hyperlink" Target="https://es.wikipedia.org/wiki/Punch_(revista)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11" Type="http://schemas.openxmlformats.org/officeDocument/2006/relationships/image" Target="../media/image8.jpg"/><Relationship Id="rId10" Type="http://schemas.openxmlformats.org/officeDocument/2006/relationships/image" Target="../media/image12.jpg"/><Relationship Id="rId9" Type="http://schemas.openxmlformats.org/officeDocument/2006/relationships/image" Target="../media/image13.jpg"/><Relationship Id="rId5" Type="http://schemas.openxmlformats.org/officeDocument/2006/relationships/image" Target="../media/image9.jpg"/><Relationship Id="rId6" Type="http://schemas.openxmlformats.org/officeDocument/2006/relationships/image" Target="../media/image15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242646" y="1603717"/>
            <a:ext cx="970670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ERA DEL IMPERIO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7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1875-1914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</a:pPr>
            <a:r>
              <a:rPr lang="es-AR" sz="3800"/>
              <a:t>Las fluctuaciones en la segunda mitad del siglo XIX</a:t>
            </a:r>
            <a:endParaRPr sz="3800"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AR"/>
              <a:t>Según la periodización de Kondratieff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AR"/>
              <a:t>1º ciclo: 1789 – 1849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AR"/>
              <a:t>Fase ascendente 1789 - 1814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AR"/>
              <a:t>Fase descendente 1815 –1849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AR"/>
              <a:t>2º ciclo: 1850 – 1896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AR"/>
              <a:t>Fase ascendente 1850 – 1873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AR">
                <a:highlight>
                  <a:srgbClr val="FFFF00"/>
                </a:highlight>
              </a:rPr>
              <a:t>Fase descendente 1873 – 1896    “ LA GRAN DEPRESIÓN”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AR"/>
              <a:t>3º ciclo: 1896 – 1913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s-AR">
                <a:highlight>
                  <a:srgbClr val="FFFF00"/>
                </a:highlight>
              </a:rPr>
              <a:t>Fase ascendente 1896 – 1913   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7832725" y="2411413"/>
            <a:ext cx="628650" cy="468312"/>
          </a:xfrm>
          <a:prstGeom prst="up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7854951" y="3176589"/>
            <a:ext cx="595313" cy="503237"/>
          </a:xfrm>
          <a:prstGeom prst="down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775576" y="3978275"/>
            <a:ext cx="606425" cy="342900"/>
          </a:xfrm>
          <a:prstGeom prst="up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845425" y="4514850"/>
            <a:ext cx="571500" cy="319088"/>
          </a:xfrm>
          <a:prstGeom prst="down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7854950" y="5292725"/>
            <a:ext cx="571500" cy="342900"/>
          </a:xfrm>
          <a:prstGeom prst="upArrow">
            <a:avLst>
              <a:gd fmla="val 50000" name="adj1"/>
              <a:gd fmla="val 250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ctrTitle"/>
          </p:nvPr>
        </p:nvSpPr>
        <p:spPr>
          <a:xfrm>
            <a:off x="1523999" y="5933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Garamond"/>
              <a:buNone/>
            </a:pPr>
            <a:r>
              <a:rPr b="1" lang="es-AR">
                <a:latin typeface="Garamond"/>
                <a:ea typeface="Garamond"/>
                <a:cs typeface="Garamond"/>
                <a:sym typeface="Garamond"/>
              </a:rPr>
              <a:t>La Gran Depresión de</a:t>
            </a:r>
            <a:br>
              <a:rPr b="1" lang="es-AR">
                <a:latin typeface="Garamond"/>
                <a:ea typeface="Garamond"/>
                <a:cs typeface="Garamond"/>
                <a:sym typeface="Garamond"/>
              </a:rPr>
            </a:br>
            <a:r>
              <a:rPr b="1" lang="es-AR">
                <a:latin typeface="Garamond"/>
                <a:ea typeface="Garamond"/>
                <a:cs typeface="Garamond"/>
                <a:sym typeface="Garamond"/>
              </a:rPr>
              <a:t> 1873 - 1896</a:t>
            </a:r>
            <a:endParaRPr b="1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492369" y="3754119"/>
            <a:ext cx="407963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PRECIOS AGRÍCOLAS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PRECIOS MANUFACTURAS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BENEFICIOS EMPRESARIALES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 rot="10800000">
            <a:off x="1524000" y="2624991"/>
            <a:ext cx="1237957" cy="881185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911594" y="2532810"/>
            <a:ext cx="1261981" cy="89619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7151076" y="3938784"/>
            <a:ext cx="407963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PRODUCCIÓN MUNDIAL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COMERCIO INTERNACIONAL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584874" y="4968516"/>
            <a:ext cx="1069144" cy="1474487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72197" y="451731"/>
            <a:ext cx="9636369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HOBSBAWM, E. LA ERA DEL IMPERIO 1875-1914, BS.AS. 2012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CAP.2- LA ECONOMIA CAMBIA DE RITMO</a:t>
            </a:r>
            <a:endParaRPr/>
          </a:p>
        </p:txBody>
      </p:sp>
      <p:sp>
        <p:nvSpPr>
          <p:cNvPr id="113" name="Google Shape;113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/>
        </p:nvSpPr>
        <p:spPr>
          <a:xfrm>
            <a:off x="548640" y="407964"/>
            <a:ext cx="1080398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RESPUESTAS EN CONTEXTO DE CRECIENTE COMPETENCIA y RIVALIDAD ENTRE PAÍSES INDUSTRIALIZADOS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316523" y="1648306"/>
            <a:ext cx="395302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PROTECCIONISMO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Aplicado a escala nacional de acuerdo a la capacidad de presión de distintos grupos y siempre dentro de los países industrializados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 general, ni riguroso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obstaculizó el crecimiento global de la producción y el comercio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Excepción: Reino Unido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4471181" y="2010359"/>
            <a:ext cx="3451276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CONCENTRACIÓN ECONÓMICA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Avanzó a expensas de la competencia de mercado, las corporaciones a expensas de las empresas privadas, los grandes negocios y grandes empresas a expensas de las más pequeñas 🡪 tendencia hacia el oligopolio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8314006" y="2395080"/>
            <a:ext cx="372793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RACIONALIZACIÓN EMPRESARIAL</a:t>
            </a:r>
            <a:b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“Gestión científica”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“La mano visible”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2525151" y="5813064"/>
            <a:ext cx="34887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IMPERIALISMO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8637564" y="5613009"/>
            <a:ext cx="34887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CRECIENTE AGITACIÓN SOCIAL</a:t>
            </a:r>
            <a:endParaRPr/>
          </a:p>
        </p:txBody>
      </p:sp>
      <p:cxnSp>
        <p:nvCxnSpPr>
          <p:cNvPr id="124" name="Google Shape;124;p4"/>
          <p:cNvCxnSpPr/>
          <p:nvPr/>
        </p:nvCxnSpPr>
        <p:spPr>
          <a:xfrm flipH="1">
            <a:off x="2743200" y="1362071"/>
            <a:ext cx="2264898" cy="33267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5" name="Google Shape;125;p4"/>
          <p:cNvCxnSpPr>
            <a:stCxn id="118" idx="2"/>
          </p:cNvCxnSpPr>
          <p:nvPr/>
        </p:nvCxnSpPr>
        <p:spPr>
          <a:xfrm>
            <a:off x="5950634" y="1362071"/>
            <a:ext cx="0" cy="648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6" name="Google Shape;126;p4"/>
          <p:cNvCxnSpPr/>
          <p:nvPr/>
        </p:nvCxnSpPr>
        <p:spPr>
          <a:xfrm>
            <a:off x="6583680" y="1362071"/>
            <a:ext cx="3094892" cy="76215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" name="Google Shape;127;p4"/>
          <p:cNvCxnSpPr/>
          <p:nvPr/>
        </p:nvCxnSpPr>
        <p:spPr>
          <a:xfrm flipH="1">
            <a:off x="3699803" y="1362071"/>
            <a:ext cx="1688123" cy="425093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8" name="Google Shape;128;p4"/>
          <p:cNvCxnSpPr/>
          <p:nvPr/>
        </p:nvCxnSpPr>
        <p:spPr>
          <a:xfrm>
            <a:off x="6330462" y="1362071"/>
            <a:ext cx="2841673" cy="407188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/>
        </p:nvSpPr>
        <p:spPr>
          <a:xfrm>
            <a:off x="4093699" y="281353"/>
            <a:ext cx="320743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PERÍODO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1896-1914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6278881" y="1561513"/>
            <a:ext cx="5791200" cy="101566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Cambios en la distribución del poder a nivel global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Discusión sobre los ciclos --&gt; Kondratiev- Shumpeter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787790" y="1561513"/>
            <a:ext cx="4994031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GRAN DINAMISMO DE LA ECONOMÍA MUNDIAL</a:t>
            </a:r>
            <a:br>
              <a:rPr b="1"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s-A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Países industrializados --&gt; motor del crecimiento --&gt; productores + mercado (en expansión por proceso de urbanización --&gt;consumo de masas)</a:t>
            </a:r>
            <a:b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 40% de la población mundial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80% del mercado internacional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 txBox="1"/>
          <p:nvPr>
            <p:ph type="title"/>
          </p:nvPr>
        </p:nvSpPr>
        <p:spPr>
          <a:xfrm>
            <a:off x="1302434" y="182246"/>
            <a:ext cx="10515600" cy="7602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es-AR">
                <a:solidFill>
                  <a:srgbClr val="FF0000"/>
                </a:solidFill>
              </a:rPr>
              <a:t>RASGOS DE LA ECONOMÍA MUNDIAL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281355" y="1043443"/>
            <a:ext cx="11339732" cy="563231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AMPLIACIÓN DE LA BASE GEOGRÁFICA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PLURALIDAD- ROL DE G.B.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AVANCE TECNOLÓGICO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DOBLE TRANSFORMACIÓN DE LA ESTRUCTURA Y MODO DE OPERAR DE LA EMPRESA CAPITALISTA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TRANSFORMACIÓN CUANTITATIVA Y CUALITATIVA DEL MERCADO DE BIENES DE CONSUMO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CRECIMIENTO DEL SECTOR TERCIARIO (PÚBLICO Y PRIVADO)</a:t>
            </a:r>
            <a:endParaRPr/>
          </a:p>
          <a:p>
            <a:pPr indent="-1905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CONVERGENCIA CRECIENTE ENTRE POLÍTICA Y ECONOMÍA</a:t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2386940" y="1745673"/>
            <a:ext cx="1935678" cy="819397"/>
          </a:xfrm>
          <a:prstGeom prst="ellipse">
            <a:avLst/>
          </a:prstGeom>
          <a:noFill/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/>
        </p:nvSpPr>
        <p:spPr>
          <a:xfrm>
            <a:off x="3983197" y="0"/>
            <a:ext cx="4319588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3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EL IMPERIALISMO</a:t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0" y="0"/>
            <a:ext cx="3827462" cy="2573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EL DOMINIO DE LOS PAÍSES INDUSTRIALES EUROPEOS EN DISTINTOS TERRITORIOS DEL MUNDO EN LOS SIGLOS XIX Y XX.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MODO DE CONQUISTA Y COLONIZACIÓN.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2º MITAD DEL SIGLO XIX HASTA LA 1º MITAD DEL S. XX</a:t>
            </a:r>
            <a:endParaRPr/>
          </a:p>
          <a:p>
            <a:pPr indent="-251459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44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6639951" y="867305"/>
            <a:ext cx="5021618" cy="4955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REPARTO DEL MUNDO ENTRE UN GRUPO REDUCIDO DE PAÍSES --&gt; REINO UNIDO-FRANCIA- ALEMANIA- ITALIA- PAÍSES BAJOS- BÉLGICA- EEUU Y JAPÓN</a:t>
            </a:r>
            <a:b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COLONIAS FORMALES --&gt; CONQUISTA, ANEXIÓN Y ADMINISTRACIÓN FORMAL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 COLONIAS INFORMALES” --&gt; ZONAS NOMINALMENTE INDEPENDIENTES PERO CON DOMINIO POLÍTICO INFORMAL POR PARTE DE LOS PAÍSES INDUSTRIALIZADOS// ZONAS DE INFLUENCIA EN LOS GRANDES IMPERIOS TRADICIONALES DE ASIA // “COLONIAS HONORÍFICAS” //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8930244" y="0"/>
            <a:ext cx="3261756" cy="75792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HOBSBAWM, E. LA ERA DEL IMPERIO 1875-1914, BS.AS. 2012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CAP.3. LA ERA DEL IMPERIO</a:t>
            </a:r>
            <a:endParaRPr/>
          </a:p>
        </p:txBody>
      </p:sp>
      <p:pic>
        <p:nvPicPr>
          <p:cNvPr descr="https://upload.wikimedia.org/wikipedia/commons/3/30/Rhodes.Africa.jp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2604" y="1945369"/>
            <a:ext cx="2844470" cy="377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186046" y="6211669"/>
            <a:ext cx="609600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"Coloso" </a:t>
            </a:r>
            <a:r>
              <a:rPr lang="es-AR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Cecil Rhodes</a:t>
            </a:r>
            <a:r>
              <a:rPr lang="es-A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conecta, por </a:t>
            </a:r>
            <a:r>
              <a:rPr lang="es-AR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vía telegráfica</a:t>
            </a:r>
            <a:r>
              <a:rPr lang="es-A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lang="es-AR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Ciudad del Cabo</a:t>
            </a:r>
            <a:r>
              <a:rPr lang="es-A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y </a:t>
            </a:r>
            <a:r>
              <a:rPr lang="es-AR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El Cairo</a:t>
            </a:r>
            <a:r>
              <a:rPr lang="es-A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Revista </a:t>
            </a:r>
            <a:r>
              <a:rPr i="1" lang="es-AR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Punch</a:t>
            </a:r>
            <a:r>
              <a:rPr lang="es-A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 </a:t>
            </a:r>
            <a:r>
              <a:rPr lang="es-AR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10 de diciembre</a:t>
            </a:r>
            <a:r>
              <a:rPr lang="es-A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de </a:t>
            </a:r>
            <a:r>
              <a:rPr lang="es-AR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1892</a:t>
            </a:r>
            <a:r>
              <a:rPr lang="es-A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En: </a:t>
            </a:r>
            <a:r>
              <a:rPr lang="es-AR" sz="11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https://es.wikipedia.org/wiki/Nuevo_Imperialismo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  <p:pic>
        <p:nvPicPr>
          <p:cNvPr descr="Resultado de imagen para colonizacion europea siglo xix"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2662" y="0"/>
            <a:ext cx="8336079" cy="572390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/>
          <p:nvPr/>
        </p:nvSpPr>
        <p:spPr>
          <a:xfrm>
            <a:off x="2006930" y="5740523"/>
            <a:ext cx="898962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https://i.pinimg.com/474x/bf/52/d5/bf52d5492f63fcb72d81b0a856da53fd.jpg</a:t>
            </a:r>
            <a:endParaRPr b="1"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8"/>
          <p:cNvCxnSpPr/>
          <p:nvPr/>
        </p:nvCxnSpPr>
        <p:spPr>
          <a:xfrm flipH="1" rot="10800000">
            <a:off x="3182587" y="2375065"/>
            <a:ext cx="4144488" cy="938151"/>
          </a:xfrm>
          <a:prstGeom prst="straightConnector1">
            <a:avLst/>
          </a:prstGeom>
          <a:noFill/>
          <a:ln cap="flat" cmpd="sng" w="9525">
            <a:solidFill>
              <a:srgbClr val="F117C7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66" name="Google Shape;166;p8"/>
          <p:cNvCxnSpPr/>
          <p:nvPr/>
        </p:nvCxnSpPr>
        <p:spPr>
          <a:xfrm flipH="1" rot="10800000">
            <a:off x="3158836" y="2861953"/>
            <a:ext cx="5248894" cy="463139"/>
          </a:xfrm>
          <a:prstGeom prst="straightConnector1">
            <a:avLst/>
          </a:prstGeom>
          <a:noFill/>
          <a:ln cap="flat" cmpd="sng" w="9525">
            <a:solidFill>
              <a:srgbClr val="F117C7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67" name="Google Shape;167;p8"/>
          <p:cNvSpPr/>
          <p:nvPr/>
        </p:nvSpPr>
        <p:spPr>
          <a:xfrm>
            <a:off x="0" y="356260"/>
            <a:ext cx="201880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AR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IMPERIALISMO COMO FENÓMENO NUEVO</a:t>
            </a:r>
            <a:endParaRPr/>
          </a:p>
        </p:txBody>
      </p:sp>
      <p:pic>
        <p:nvPicPr>
          <p:cNvPr descr="Resultado de imagen para EL PASTEL DE LOS REYES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5891" y="0"/>
            <a:ext cx="1366109" cy="1727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8"/>
          <p:cNvCxnSpPr/>
          <p:nvPr/>
        </p:nvCxnSpPr>
        <p:spPr>
          <a:xfrm flipH="1" rot="10800000">
            <a:off x="8407730" y="831273"/>
            <a:ext cx="2363189" cy="144879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colonias en 1914"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724" y="0"/>
            <a:ext cx="10106025" cy="6657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0" y="6581001"/>
            <a:ext cx="84789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Fuente: https://i.pinimg.com/originals/69/cf/ea/69cfeacb64b82b3139ec3bdee7751faa.jpg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9"/>
          <p:cNvCxnSpPr/>
          <p:nvPr/>
        </p:nvCxnSpPr>
        <p:spPr>
          <a:xfrm rot="10800000">
            <a:off x="1520044" y="1591294"/>
            <a:ext cx="736268" cy="451262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7" name="Google Shape;177;p9"/>
          <p:cNvCxnSpPr/>
          <p:nvPr/>
        </p:nvCxnSpPr>
        <p:spPr>
          <a:xfrm flipH="1">
            <a:off x="1555668" y="2194956"/>
            <a:ext cx="853044" cy="476992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8" name="Google Shape;178;p9"/>
          <p:cNvCxnSpPr/>
          <p:nvPr/>
        </p:nvCxnSpPr>
        <p:spPr>
          <a:xfrm flipH="1" rot="-5400000">
            <a:off x="3188524" y="2333501"/>
            <a:ext cx="391886" cy="285007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79" name="Google Shape;179;p9"/>
          <p:cNvCxnSpPr/>
          <p:nvPr/>
        </p:nvCxnSpPr>
        <p:spPr>
          <a:xfrm flipH="1" rot="-5400000">
            <a:off x="2909454" y="2422566"/>
            <a:ext cx="676894" cy="296883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0" name="Google Shape;180;p9"/>
          <p:cNvCxnSpPr/>
          <p:nvPr/>
        </p:nvCxnSpPr>
        <p:spPr>
          <a:xfrm flipH="1">
            <a:off x="6852063" y="1341912"/>
            <a:ext cx="1009405" cy="84314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1" name="Google Shape;181;p9"/>
          <p:cNvCxnSpPr/>
          <p:nvPr/>
        </p:nvCxnSpPr>
        <p:spPr>
          <a:xfrm flipH="1">
            <a:off x="6828312" y="1579418"/>
            <a:ext cx="522514" cy="320634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82" name="Google Shape;182;p9"/>
          <p:cNvCxnSpPr/>
          <p:nvPr/>
        </p:nvCxnSpPr>
        <p:spPr>
          <a:xfrm>
            <a:off x="8395855" y="1282535"/>
            <a:ext cx="760020" cy="51063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83" name="Google Shape;18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/>
          <p:nvPr/>
        </p:nvSpPr>
        <p:spPr>
          <a:xfrm>
            <a:off x="166254" y="154380"/>
            <a:ext cx="952401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¿CÓMO EXPLICAR EL IMPERIALISMO?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1983179" y="1318162"/>
            <a:ext cx="8930245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RECHAZA CUALQUIER EXPLICACIÓN QUE NO INCORPORE LA DIMENSIÓN ECONÓMICA. </a:t>
            </a: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 AQUELLAS EXPLICACIONES QUE NO CONTEMPLAN LA INTERRELACIÓN  ENTRE LOS PROCESOS ECONÓMICOS Y POLÍTICOS, NACIONALES E INTERNACIONALES (QUE SÍ APRECIARON LOS CONTEMPORÁNEOS) Y QUE SÓLO SE CONCENTRAN EN ASPECTOS PSICOLÓGICOS, IDEOLÓGICOS, CULTURALES Y/O POLÍTICOS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166255" y="997527"/>
            <a:ext cx="15158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HOBSBAWM</a:t>
            </a:r>
            <a:endParaRPr b="1"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0"/>
          <p:cNvCxnSpPr/>
          <p:nvPr/>
        </p:nvCxnSpPr>
        <p:spPr>
          <a:xfrm>
            <a:off x="1508166" y="1330036"/>
            <a:ext cx="296883" cy="1559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192" name="Google Shape;192;p10"/>
          <p:cNvSpPr txBox="1"/>
          <p:nvPr/>
        </p:nvSpPr>
        <p:spPr>
          <a:xfrm>
            <a:off x="2030681" y="3265715"/>
            <a:ext cx="651955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PROPONE QUE EL ANÁLISIS SE INSERTE EN EL SURGIMIENTO DE UNA </a:t>
            </a:r>
            <a:r>
              <a:rPr b="1" lang="es-A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ECONOMÍA GLOBAL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EN UN ORDEN ECONÓMICO INTERNACIONAL BASADO EN LA LIBRE CIRCULACIÓN DE BIENES, CAPITALES Y PERSONAS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2078182" y="5640779"/>
            <a:ext cx="77308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IMPERIALISMO 🡪 </a:t>
            </a:r>
            <a:r>
              <a:rPr b="1" lang="es-A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FRUTO DE LA COMPETENCIA ENTRE ECONOMÍAS RIVALES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3099460" y="4643252"/>
            <a:ext cx="504701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IMPORTANCIA CRECIENTE DEL RESTO DEL MUNDO PARA LA ECONOMÍA MUNDIAL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0"/>
          <p:cNvCxnSpPr/>
          <p:nvPr/>
        </p:nvCxnSpPr>
        <p:spPr>
          <a:xfrm flipH="1" rot="-5400000">
            <a:off x="1371600" y="1502229"/>
            <a:ext cx="665018" cy="41563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96" name="Google Shape;196;p10"/>
          <p:cNvCxnSpPr/>
          <p:nvPr/>
        </p:nvCxnSpPr>
        <p:spPr>
          <a:xfrm flipH="1" rot="-5400000">
            <a:off x="629392" y="2090056"/>
            <a:ext cx="2066307" cy="59376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97" name="Google Shape;197;p10"/>
          <p:cNvCxnSpPr/>
          <p:nvPr/>
        </p:nvCxnSpPr>
        <p:spPr>
          <a:xfrm flipH="1" rot="-5400000">
            <a:off x="-480951" y="3069771"/>
            <a:ext cx="4215740" cy="92627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198" name="Google Shape;198;p10"/>
          <p:cNvCxnSpPr/>
          <p:nvPr/>
        </p:nvCxnSpPr>
        <p:spPr>
          <a:xfrm flipH="1" rot="-5400000">
            <a:off x="4322619" y="4239490"/>
            <a:ext cx="273131" cy="20188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pic>
        <p:nvPicPr>
          <p:cNvPr descr="Imperialismo en Africa" id="199" name="Google Shape;1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55121" y="3028208"/>
            <a:ext cx="4036879" cy="245225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0"/>
          <p:cNvSpPr/>
          <p:nvPr/>
        </p:nvSpPr>
        <p:spPr>
          <a:xfrm>
            <a:off x="8376063" y="5498276"/>
            <a:ext cx="381593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http://www.escuelapedia.com/wp-content/uploads/Imperialismo-en-Africa1.jpg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7992092" y="356260"/>
            <a:ext cx="36457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 cada vez más activo del Estado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10"/>
          <p:cNvCxnSpPr/>
          <p:nvPr/>
        </p:nvCxnSpPr>
        <p:spPr>
          <a:xfrm flipH="1" rot="10800000">
            <a:off x="5379522" y="629392"/>
            <a:ext cx="2315688" cy="163879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03" name="Google Shape;20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/>
          <p:nvPr/>
        </p:nvSpPr>
        <p:spPr>
          <a:xfrm>
            <a:off x="1674418" y="1294410"/>
            <a:ext cx="1027215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    NECESIDAD DE MATERIAS PRIMAS --&gt; Requeridas por las nuevas tecnologías (Ej: petróleo, caucho, estaño, metales no férricos, cobre, oro, etc</a:t>
            </a: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    NECESIDAD DE ALIMENTOS --&gt; Consumo de masas en los países metropolitanos.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261259" y="154379"/>
            <a:ext cx="504701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IMPORTANCIA CRECIENTE DEL RESTO DEL MUNDO PARA LA ECONOMÍA MUNDIAL 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cafe" id="210" name="Google Shape;210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cafe" id="211" name="Google Shape;211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cafe" id="212" name="Google Shape;212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Resultado de imagen para cafe" id="213" name="Google Shape;213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cafe" id="214" name="Google Shape;21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34003" y="1834007"/>
            <a:ext cx="541273" cy="407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bananas" id="215" name="Google Shape;21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44847" y="2707575"/>
            <a:ext cx="605548" cy="6055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te" id="216" name="Google Shape;21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25247" y="2556489"/>
            <a:ext cx="736971" cy="4578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barril petroleo dibujo" id="217" name="Google Shape;21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8381" y="0"/>
            <a:ext cx="997526" cy="13182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estaÃ±o" id="218" name="Google Shape;218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2269" y="380010"/>
            <a:ext cx="1185306" cy="7902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caucho" id="219" name="Google Shape;219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04303" y="1662546"/>
            <a:ext cx="1088934" cy="663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cereales" id="220" name="Google Shape;220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29217" y="2588820"/>
            <a:ext cx="986389" cy="6056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zucar" id="221" name="Google Shape;221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54318" y="2660074"/>
            <a:ext cx="730332" cy="4868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cacao" id="222" name="Google Shape;222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044052" y="2535383"/>
            <a:ext cx="862940" cy="86294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 txBox="1"/>
          <p:nvPr/>
        </p:nvSpPr>
        <p:spPr>
          <a:xfrm>
            <a:off x="961901" y="3800104"/>
            <a:ext cx="53201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ESPECIALIZACIÓN PRODUCTIVA INTERNACIONAL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508166" y="2814452"/>
            <a:ext cx="522515" cy="890649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3918856" y="5189517"/>
            <a:ext cx="69470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¿TRAMPA? --&gt;ECONOMÍAS COMPLEMENTARIAS (NO COMPETITIVAS).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251365" y="4310743"/>
            <a:ext cx="344385" cy="760021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6175169" y="6080166"/>
            <a:ext cx="22800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VULNERABILIDAD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11"/>
          <p:cNvCxnSpPr/>
          <p:nvPr/>
        </p:nvCxnSpPr>
        <p:spPr>
          <a:xfrm rot="5400000">
            <a:off x="6691745" y="5860473"/>
            <a:ext cx="391886" cy="158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sp>
        <p:nvSpPr>
          <p:cNvPr id="229" name="Google Shape;229;p11"/>
          <p:cNvSpPr/>
          <p:nvPr/>
        </p:nvSpPr>
        <p:spPr>
          <a:xfrm>
            <a:off x="1852550" y="1306286"/>
            <a:ext cx="237507" cy="296883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1862446" y="2088079"/>
            <a:ext cx="237507" cy="296883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 txBox="1"/>
          <p:nvPr/>
        </p:nvSpPr>
        <p:spPr>
          <a:xfrm>
            <a:off x="201881" y="213756"/>
            <a:ext cx="58189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¿CAUSAS DE LA CARRERA IMPERIALISTA?</a:t>
            </a:r>
            <a:endParaRPr b="1"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439387" y="948690"/>
            <a:ext cx="9761517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</a:pPr>
            <a:r>
              <a:rPr b="1" lang="es-AR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PRESIÓN DEL CAPITAL POR REALIZAR INVERSIONES EXTERNAS  EN PLAZAS SEGURAS Y EVITANDO LA COMPETENCIA EXTERNA 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Argumento de poco peso según Hobsbawm --&gt; Cierto pero no para las colonias formales, sí para los dominios blancos del R.U y para las “colonias honoríficas”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</a:pPr>
            <a:r>
              <a:rPr b="1" lang="es-AR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BÚSQUEDA DE MERCADOS 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Resolver el problema de la “superproducción” de la época de la gran depresión</a:t>
            </a: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--&gt; Competencia entre potencias rivales.</a:t>
            </a: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--&gt; Rol más activo del </a:t>
            </a:r>
            <a:r>
              <a:rPr b="1"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</a:t>
            </a: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--&gt;Se puede interpretar como una </a:t>
            </a:r>
            <a:r>
              <a:rPr b="1"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ampliación del proteccionismo</a:t>
            </a:r>
            <a:br>
              <a:rPr b="1"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</a:pPr>
            <a:r>
              <a:rPr b="1" lang="es-AR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MOTIVACIONES ESTRATÉGICAS 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(Inseparables de las económicas) --&gt;Analizar el caso del Reino Unido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</a:pPr>
            <a:r>
              <a:rPr b="1" lang="es-AR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FACTORES IDEOLÓGICOS 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¿Mecanismo para que los estados pudieran legitimarse en un contexto de creciente movilización social? --&gt;poca evidencia</a:t>
            </a: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5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r>
              <a:rPr b="0" i="0" lang="es-A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Sentimiento de superioridad unía a casi todos los sectores 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r>
              <a:rPr b="0" i="0" lang="es-A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 para la política imperialista </a:t>
            </a: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--&gt;</a:t>
            </a:r>
            <a:r>
              <a:rPr b="0" i="0" lang="es-A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“cemento ideológico”</a:t>
            </a:r>
            <a:endParaRPr/>
          </a:p>
          <a:p>
            <a:pPr indent="0" lvl="6" marL="274320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s-A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6" marL="2743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141" y="686167"/>
            <a:ext cx="10332592" cy="579919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3"/>
          <p:cNvSpPr txBox="1"/>
          <p:nvPr/>
        </p:nvSpPr>
        <p:spPr>
          <a:xfrm>
            <a:off x="344385" y="142505"/>
            <a:ext cx="296883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IMPERIO BRITÁNICO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 txBox="1"/>
          <p:nvPr/>
        </p:nvSpPr>
        <p:spPr>
          <a:xfrm>
            <a:off x="320633" y="6550223"/>
            <a:ext cx="1140031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Kinder, H, Hilgemann, W., Atlas histórico mundial. De la Revolución Francesa a nuestros días, Istmo, Madrid, 1988. Pág.114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 txBox="1"/>
          <p:nvPr/>
        </p:nvSpPr>
        <p:spPr>
          <a:xfrm>
            <a:off x="2446316" y="0"/>
            <a:ext cx="8930245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RECHAZA CUALQUIER EXPLICACIÓN QUE NO INCORPORE LA DIMENSIÓN ECONÓMICA. </a:t>
            </a:r>
            <a:br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CRITICA AQUELLAS EXPLICACIONES QUE NO CONTEMPLAN LA INTERRELACIÓN  ENTRE LOS PROCESOS ECONÓMICOS Y POLÍTICOS, NACIONALES E INTERNACIONALES (QUE SÍ APRECIARON LOS CONTEMPORÁNEOS) Y QUE SÓLO SE CONCENTRAN EN ASPECTOS PSICOLÓGICOS, IDEOLÓGICOS, CULTURALES Y/O POLÍTICOS.</a:t>
            </a:r>
            <a:r>
              <a:rPr lang="es-A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273133" y="178129"/>
            <a:ext cx="151583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1800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HOBSBAWM</a:t>
            </a:r>
            <a:endParaRPr b="1" sz="1800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285" y="1367596"/>
            <a:ext cx="6080166" cy="549040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/>
          <p:nvPr/>
        </p:nvSpPr>
        <p:spPr>
          <a:xfrm>
            <a:off x="4963886" y="1413164"/>
            <a:ext cx="771896" cy="213756"/>
          </a:xfrm>
          <a:prstGeom prst="ellipse">
            <a:avLst/>
          </a:prstGeom>
          <a:noFill/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1304307" y="1769423"/>
            <a:ext cx="2472046" cy="344385"/>
          </a:xfrm>
          <a:prstGeom prst="ellipse">
            <a:avLst/>
          </a:prstGeom>
          <a:noFill/>
          <a:ln cap="flat" cmpd="sng" w="127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"/>
          <p:cNvSpPr txBox="1"/>
          <p:nvPr/>
        </p:nvSpPr>
        <p:spPr>
          <a:xfrm>
            <a:off x="142504" y="344384"/>
            <a:ext cx="11245932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 DE LA EXPANSIÓN OCCIDENTAL Y JAPONESA EN EL RESTO DEL MUNDO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*IMPACTO ECONÓMICO-POLÍTICO DESIGUAL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DE LOS PAÍSES METROPOLITANOS DONDE EL IMPERIALISMO TUVO MÁS IMPORTANCIA FUE EL </a:t>
            </a:r>
            <a:r>
              <a:rPr b="1"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REINO UNIDO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IMPACTO CULTURAL --&gt; OCCIDENTALIZACIÓN PARA MINORÍAS DE LAS COLONIAS QUE TENDRAN UN ROL DECISIVO</a:t>
            </a: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EN LOS PROCESOS DE DESCOLONIZACIÓN.</a:t>
            </a: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--&gt;IMPACTO DE “LO EXÓTICO”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impacto del imperialismo" id="262" name="Google Shape;2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5211" y="2478182"/>
            <a:ext cx="2776110" cy="405937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5"/>
          <p:cNvSpPr/>
          <p:nvPr/>
        </p:nvSpPr>
        <p:spPr>
          <a:xfrm>
            <a:off x="7639792" y="6581001"/>
            <a:ext cx="45522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https://hcoakhouse2.files.wordpress.com/2013/01/le-petit-journal.jpg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ina 1900" id="269" name="Google Shape;2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428" y="644576"/>
            <a:ext cx="7810500" cy="58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6"/>
          <p:cNvSpPr txBox="1"/>
          <p:nvPr/>
        </p:nvSpPr>
        <p:spPr>
          <a:xfrm>
            <a:off x="253218" y="309489"/>
            <a:ext cx="9903656" cy="3798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REPARTO DE CHINA EN ZONAS DE INFLUENCIA</a:t>
            </a:r>
            <a:endParaRPr/>
          </a:p>
        </p:txBody>
      </p:sp>
      <p:sp>
        <p:nvSpPr>
          <p:cNvPr id="271" name="Google Shape;271;p16"/>
          <p:cNvSpPr/>
          <p:nvPr/>
        </p:nvSpPr>
        <p:spPr>
          <a:xfrm>
            <a:off x="5957454" y="6550223"/>
            <a:ext cx="60484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https://historiactm.files.wordpress.com/2018/11/china-1900.png?w=788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"/>
          <p:cNvSpPr/>
          <p:nvPr/>
        </p:nvSpPr>
        <p:spPr>
          <a:xfrm>
            <a:off x="5692725" y="327294"/>
            <a:ext cx="6138203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AR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 caricatura titulada "China, pastel de reyes y emperadores", fue publicada en 1885 por el periódico francés "Le Petit Journal"  </a:t>
            </a:r>
            <a:br>
              <a:rPr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AR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para representar el reparto de China que estaban llevando a cabo las potencias imperialistas del momento.</a:t>
            </a:r>
            <a:br>
              <a:rPr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AR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 realidad no se estableció un reparto de China tan concreto sino que lo que hicieron los países imperialistas fue obligar a China a firmar unos acuerdos desiguales que los obligaban a abrir puertos y ceder zonas durante algún tiempo a algún  país.</a:t>
            </a:r>
            <a:br>
              <a:rPr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AR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Aunque también es verdad que se diferenciaban cinco zonas de control manejadas por Inglaterra, Alemania, Rusia, Francia y Japón.</a:t>
            </a:r>
            <a:br>
              <a:rPr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AR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 la imagen se puede observar un pastel que es China y a cinco potencias imperialistas repartiéndose ese pastel mientras detrás</a:t>
            </a:r>
            <a:br>
              <a:rPr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AR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el emperador de China parece protestar.</a:t>
            </a:r>
            <a:br>
              <a:rPr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A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AR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Los personajes representados son (de izquierda a derecha) la reina Victoria de Inglaterra, Guillermo II, emperador de Alemania, Nicolás II, zar de Rusia, Marianne (que simboliza la república francesa), y Meiji Tenno, emperador japonés.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EL PASTEL DE LOS REYES" id="278" name="Google Shape;2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139" y="176212"/>
            <a:ext cx="5143500" cy="650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2019-05-04T20:20:09Z</dcterms:created>
  <dc:creator>DETHIOU CECILIA</dc:creator>
</cp:coreProperties>
</file>