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97"/>
  </p:normalViewPr>
  <p:slideViewPr>
    <p:cSldViewPr snapToGrid="0">
      <p:cViewPr varScale="1">
        <p:scale>
          <a:sx n="55" d="100"/>
          <a:sy n="55" d="100"/>
        </p:scale>
        <p:origin x="966" y="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454ea6b0b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454ea6b0b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454ea6b0b4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454ea6b0b4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454ea6b0b4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454ea6b0b4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46604a53d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46604a53d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46604a53d7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46604a53d7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46604a53d7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46604a53d7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46604a53d7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46604a53d7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46604a53d7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46604a53d7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46604a53d7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46604a53d7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46604a53d7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46604a53d7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46604a53d7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46604a53d7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46604a53d7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46604a53d7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46604a53d7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46604a53d7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46604a53d7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46604a53d7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46604a53d7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46604a53d7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46604a53d7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46604a53d7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53150" y="158100"/>
            <a:ext cx="8868600" cy="486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600" b="1" dirty="0">
                <a:solidFill>
                  <a:schemeClr val="dk1"/>
                </a:solidFill>
              </a:rPr>
              <a:t>Tema: “La Unión Soviética en la década de 1980: Glasnost y Perestroika. La Rusia Postsoviética”</a:t>
            </a:r>
            <a:endParaRPr sz="26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400" dirty="0">
                <a:solidFill>
                  <a:schemeClr val="dk1"/>
                </a:solidFill>
              </a:rPr>
              <a:t>Bibliografía:</a:t>
            </a:r>
            <a:endParaRPr sz="24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400" dirty="0">
                <a:solidFill>
                  <a:schemeClr val="dk1"/>
                </a:solidFill>
              </a:rPr>
              <a:t>Saborido, Cap X “Gorbachov la esperanza del derrumbe”</a:t>
            </a:r>
            <a:endParaRPr sz="24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153150" y="699000"/>
            <a:ext cx="8868600" cy="43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Gorbachov ascendió a la Secretaría General del PCUS generando una gran expectativa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Sin embargo, en esos momentos se estaba produciendo → un nueva </a:t>
            </a:r>
            <a:r>
              <a:rPr lang="es" b="1">
                <a:solidFill>
                  <a:schemeClr val="dk1"/>
                </a:solidFill>
              </a:rPr>
              <a:t>revolución tecnológica</a:t>
            </a:r>
            <a:endParaRPr b="1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las expectativas de </a:t>
            </a:r>
            <a:r>
              <a:rPr lang="es" b="1">
                <a:solidFill>
                  <a:schemeClr val="dk1"/>
                </a:solidFill>
              </a:rPr>
              <a:t>reforma en la URSS </a:t>
            </a:r>
            <a:r>
              <a:rPr lang="es">
                <a:solidFill>
                  <a:schemeClr val="dk1"/>
                </a:solidFill>
              </a:rPr>
              <a:t>eran enormes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 El hecho indiscutible de que Gorbachov fuera el  principal representante de una nueva generación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→ familia de Gorbachov → campesinos → sus abuelos vivieron la colectivización y las purgas del Stalinismo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14"/>
          <p:cNvSpPr txBox="1"/>
          <p:nvPr/>
        </p:nvSpPr>
        <p:spPr>
          <a:xfrm>
            <a:off x="173500" y="147900"/>
            <a:ext cx="6286500" cy="387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1"/>
                </a:solidFill>
              </a:rPr>
              <a:t>Saborido Cap. X “Gorbachov la esperanza del derrumbe” 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/>
        </p:nvSpPr>
        <p:spPr>
          <a:xfrm>
            <a:off x="76475" y="561050"/>
            <a:ext cx="8909400" cy="46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primera mitad de los 80´→  la declinación económica de la URSS y sus causas →  tema de estudio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el sistema →  serios problemas cuando se trataba de impulsar el crecimiento incrementando la eficiencia en el empleo de los factores productivos → lo que se denominaba “</a:t>
            </a:r>
            <a:r>
              <a:rPr lang="es" b="1">
                <a:solidFill>
                  <a:schemeClr val="dk1"/>
                </a:solidFill>
              </a:rPr>
              <a:t>crecimiento intensivo</a:t>
            </a:r>
            <a:r>
              <a:rPr lang="es">
                <a:solidFill>
                  <a:schemeClr val="dk1"/>
                </a:solidFill>
              </a:rPr>
              <a:t>”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además → </a:t>
            </a:r>
            <a:r>
              <a:rPr lang="es" b="1">
                <a:solidFill>
                  <a:schemeClr val="dk1"/>
                </a:solidFill>
              </a:rPr>
              <a:t> la planificación se enfrentaba con la innovación tecnológica</a:t>
            </a:r>
            <a:endParaRPr b="1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→ A la vista de las debilidades </a:t>
            </a:r>
            <a:r>
              <a:rPr lang="es" sz="1000">
                <a:solidFill>
                  <a:schemeClr val="dk1"/>
                </a:solidFill>
              </a:rPr>
              <a:t>→</a:t>
            </a:r>
            <a:r>
              <a:rPr lang="es">
                <a:solidFill>
                  <a:schemeClr val="dk1"/>
                </a:solidFill>
              </a:rPr>
              <a:t> el crecimiento </a:t>
            </a:r>
            <a:r>
              <a:rPr lang="es" sz="1000">
                <a:solidFill>
                  <a:schemeClr val="dk1"/>
                </a:solidFill>
              </a:rPr>
              <a:t>→</a:t>
            </a:r>
            <a:r>
              <a:rPr lang="es">
                <a:solidFill>
                  <a:schemeClr val="dk1"/>
                </a:solidFill>
              </a:rPr>
              <a:t>  cada vez más lento a medida que el sistema maduraba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→ Gorbachov y el equipo </a:t>
            </a:r>
            <a:r>
              <a:rPr lang="es" sz="1000">
                <a:solidFill>
                  <a:schemeClr val="dk1"/>
                </a:solidFill>
              </a:rPr>
              <a:t>→</a:t>
            </a:r>
            <a:r>
              <a:rPr lang="es">
                <a:solidFill>
                  <a:schemeClr val="dk1"/>
                </a:solidFill>
              </a:rPr>
              <a:t>  iniciaron su gestión sin tener una estrategia económica definida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6" name="Google Shape;66;p15"/>
          <p:cNvSpPr txBox="1"/>
          <p:nvPr/>
        </p:nvSpPr>
        <p:spPr>
          <a:xfrm>
            <a:off x="275550" y="96875"/>
            <a:ext cx="3306600" cy="326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LA PERESTROIKA TECNOCRÁTICA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/>
        </p:nvSpPr>
        <p:spPr>
          <a:xfrm>
            <a:off x="91800" y="0"/>
            <a:ext cx="8960400" cy="49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Hacía falta más para aumentar la tasa de crecimiento → Gorbachov no parecía dispuesto a innovar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1"/>
                </a:solidFill>
              </a:rPr>
              <a:t>LA “SEGUNDA” PERESTROIKA: LOS CAMBIOS ECONÓMICOS Y POLÍTICOS</a:t>
            </a:r>
            <a:endParaRPr sz="130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 u="sng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Gorbachov llegó a la conclusión de que →  la reforma no podría reducirse a cuestiones económicas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La </a:t>
            </a:r>
            <a:r>
              <a:rPr lang="es" b="1">
                <a:solidFill>
                  <a:schemeClr val="dk1"/>
                </a:solidFill>
              </a:rPr>
              <a:t>glasnost</a:t>
            </a:r>
            <a:r>
              <a:rPr lang="es">
                <a:solidFill>
                  <a:schemeClr val="dk1"/>
                </a:solidFill>
              </a:rPr>
              <a:t> →  permitió la difusión y discusión de temas antes vedados a los ciudadanos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</a:endParaRPr>
          </a:p>
          <a:p>
            <a:pPr marL="457200" lvl="0" indent="-317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s">
                <a:solidFill>
                  <a:schemeClr val="dk1"/>
                </a:solidFill>
              </a:rPr>
              <a:t>sociedad rusa expresaron sus demandas →  empezaron a buscar líderes y respuestas en otros ámbitos</a:t>
            </a:r>
            <a:endParaRPr>
              <a:solidFill>
                <a:schemeClr val="dk1"/>
              </a:solidFill>
            </a:endParaRPr>
          </a:p>
          <a:p>
            <a:pPr marL="457200" lvl="0" indent="-317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s">
                <a:solidFill>
                  <a:schemeClr val="dk1"/>
                </a:solidFill>
              </a:rPr>
              <a:t>dentro del PCUS → alarma por lo que estaba ocurriendo</a:t>
            </a:r>
            <a:endParaRPr>
              <a:solidFill>
                <a:schemeClr val="dk1"/>
              </a:solidFill>
            </a:endParaRPr>
          </a:p>
          <a:p>
            <a:pPr marL="457200" lvl="0" indent="-317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s">
                <a:solidFill>
                  <a:schemeClr val="dk1"/>
                </a:solidFill>
              </a:rPr>
              <a:t>cuanto mayor era el grado de cambios que se quería producir →  mayor era la resistencia 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 Chernobyl →  26 de abril 1986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La glasnost →  eje de la estrategia reformista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72" name="Google Shape;72;p16"/>
          <p:cNvSpPr txBox="1"/>
          <p:nvPr/>
        </p:nvSpPr>
        <p:spPr>
          <a:xfrm>
            <a:off x="102050" y="637775"/>
            <a:ext cx="6072300" cy="357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/>
        </p:nvSpPr>
        <p:spPr>
          <a:xfrm>
            <a:off x="61200" y="56050"/>
            <a:ext cx="9021600" cy="52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La perestroika económica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desde el entorno de Gorbachov → idea de que era necesario otorgarle un </a:t>
            </a:r>
            <a:r>
              <a:rPr lang="es" b="1">
                <a:solidFill>
                  <a:schemeClr val="dk1"/>
                </a:solidFill>
              </a:rPr>
              <a:t>papel relevante al mercado </a:t>
            </a:r>
            <a:endParaRPr b="1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Las principales decisiones fueron fueron de 3 tipos:</a:t>
            </a:r>
            <a:endParaRPr>
              <a:solidFill>
                <a:schemeClr val="dk1"/>
              </a:solidFill>
            </a:endParaRPr>
          </a:p>
          <a:p>
            <a:pPr marL="457200" lvl="0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s">
                <a:solidFill>
                  <a:schemeClr val="dk1"/>
                </a:solidFill>
              </a:rPr>
              <a:t>medidas destinadas a </a:t>
            </a:r>
            <a:r>
              <a:rPr lang="es" b="1">
                <a:solidFill>
                  <a:schemeClr val="dk1"/>
                </a:solidFill>
              </a:rPr>
              <a:t>descentralizar </a:t>
            </a:r>
            <a:r>
              <a:rPr lang="es">
                <a:solidFill>
                  <a:schemeClr val="dk1"/>
                </a:solidFill>
              </a:rPr>
              <a:t>una economía de base estatal</a:t>
            </a:r>
            <a:endParaRPr>
              <a:solidFill>
                <a:schemeClr val="dk1"/>
              </a:solidFill>
            </a:endParaRPr>
          </a:p>
          <a:p>
            <a:pPr marL="457200" lvl="0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s">
                <a:solidFill>
                  <a:schemeClr val="dk1"/>
                </a:solidFill>
              </a:rPr>
              <a:t>medidas para </a:t>
            </a:r>
            <a:r>
              <a:rPr lang="es" b="1">
                <a:solidFill>
                  <a:schemeClr val="dk1"/>
                </a:solidFill>
              </a:rPr>
              <a:t>legitimar las actividades económicas no realizadas por el estado </a:t>
            </a:r>
            <a:endParaRPr b="1">
              <a:solidFill>
                <a:schemeClr val="dk1"/>
              </a:solidFill>
            </a:endParaRPr>
          </a:p>
          <a:p>
            <a:pPr marL="457200" lvl="0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s">
                <a:solidFill>
                  <a:schemeClr val="dk1"/>
                </a:solidFill>
              </a:rPr>
              <a:t>medidas orientadas a impulsar el </a:t>
            </a:r>
            <a:r>
              <a:rPr lang="es" b="1">
                <a:solidFill>
                  <a:schemeClr val="dk1"/>
                </a:solidFill>
              </a:rPr>
              <a:t>comercio internacional y las inversiones externas</a:t>
            </a:r>
            <a:endParaRPr b="1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Los resultados fueron decepcionantes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Las razones de esta situación 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→ Existían mafias económicas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chemeClr val="dk1"/>
              </a:solidFill>
            </a:endParaRPr>
          </a:p>
        </p:txBody>
      </p:sp>
      <p:sp>
        <p:nvSpPr>
          <p:cNvPr id="78" name="Google Shape;78;p17"/>
          <p:cNvSpPr txBox="1"/>
          <p:nvPr/>
        </p:nvSpPr>
        <p:spPr>
          <a:xfrm>
            <a:off x="142875" y="117300"/>
            <a:ext cx="2071800" cy="285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/>
        </p:nvSpPr>
        <p:spPr>
          <a:xfrm>
            <a:off x="61200" y="0"/>
            <a:ext cx="90216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Las transformaciones institucionales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grupos reformistas extremos (lugar importante </a:t>
            </a:r>
            <a:r>
              <a:rPr lang="es" b="1">
                <a:solidFill>
                  <a:schemeClr val="dk1"/>
                </a:solidFill>
              </a:rPr>
              <a:t>Boris Yeltsin</a:t>
            </a:r>
            <a:r>
              <a:rPr lang="es">
                <a:solidFill>
                  <a:schemeClr val="dk1"/>
                </a:solidFill>
              </a:rPr>
              <a:t>) →reclamaban mayor velocidad en los cambios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1988 → Gorbachov → importantes </a:t>
            </a:r>
            <a:r>
              <a:rPr lang="es" b="1">
                <a:solidFill>
                  <a:schemeClr val="dk1"/>
                </a:solidFill>
              </a:rPr>
              <a:t>reformas institucionales</a:t>
            </a:r>
            <a:r>
              <a:rPr lang="es">
                <a:solidFill>
                  <a:schemeClr val="dk1"/>
                </a:solidFill>
              </a:rPr>
              <a:t> → disminuir el poder del partido sobre  el Estado → creación de nuevas instituciones elegidas por el pueblo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acto de inauguración de las sesiones del Congreso → pensado por Gorbachov como un acontecimiento con  máxima difusión → crear una “</a:t>
            </a:r>
            <a:r>
              <a:rPr lang="es" b="1">
                <a:solidFill>
                  <a:schemeClr val="dk1"/>
                </a:solidFill>
              </a:rPr>
              <a:t>escuela para la democracia</a:t>
            </a:r>
            <a:r>
              <a:rPr lang="es">
                <a:solidFill>
                  <a:schemeClr val="dk1"/>
                </a:solidFill>
              </a:rPr>
              <a:t>” en una sociedad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mientras tanto → defensores más radicales de la democratización → se organizaban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Mientras tanto → la situación general se agravaba → no sólo en el terreno económico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chemeClr val="dk1"/>
              </a:solidFill>
            </a:endParaRPr>
          </a:p>
        </p:txBody>
      </p:sp>
      <p:sp>
        <p:nvSpPr>
          <p:cNvPr id="84" name="Google Shape;84;p18"/>
          <p:cNvSpPr txBox="1"/>
          <p:nvPr/>
        </p:nvSpPr>
        <p:spPr>
          <a:xfrm>
            <a:off x="102050" y="66275"/>
            <a:ext cx="2979900" cy="2961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/>
        </p:nvSpPr>
        <p:spPr>
          <a:xfrm>
            <a:off x="0" y="0"/>
            <a:ext cx="9144000" cy="53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1"/>
                </a:solidFill>
              </a:rPr>
              <a:t>EL RETORNO DE LA CUESTIÓN NACIONAL</a:t>
            </a:r>
            <a:endParaRPr sz="130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 → el establecimiento oficial de la URSS (1924) → compromiso entre Rusia y entidades políticas más pequeñas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con Stalin </a:t>
            </a:r>
            <a:r>
              <a:rPr lang="es" sz="1000">
                <a:solidFill>
                  <a:schemeClr val="dk1"/>
                </a:solidFill>
              </a:rPr>
              <a:t>→ </a:t>
            </a:r>
            <a:r>
              <a:rPr lang="es">
                <a:solidFill>
                  <a:schemeClr val="dk1"/>
                </a:solidFill>
              </a:rPr>
              <a:t> esta política se abandonó </a:t>
            </a:r>
            <a:r>
              <a:rPr lang="es" sz="1000">
                <a:solidFill>
                  <a:schemeClr val="dk1"/>
                </a:solidFill>
              </a:rPr>
              <a:t>→ </a:t>
            </a:r>
            <a:r>
              <a:rPr lang="es">
                <a:solidFill>
                  <a:schemeClr val="dk1"/>
                </a:solidFill>
              </a:rPr>
              <a:t>a favor de una mayor centralización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La iniciativa oficial más exitosa (desde 1930) </a:t>
            </a:r>
            <a:r>
              <a:rPr lang="es" sz="1000">
                <a:solidFill>
                  <a:schemeClr val="dk1"/>
                </a:solidFill>
              </a:rPr>
              <a:t>→</a:t>
            </a:r>
            <a:r>
              <a:rPr lang="es">
                <a:solidFill>
                  <a:schemeClr val="dk1"/>
                </a:solidFill>
              </a:rPr>
              <a:t> glorificación del pasado ruso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cuando asumió Gorbachov al poder </a:t>
            </a:r>
            <a:r>
              <a:rPr lang="es" sz="1000">
                <a:solidFill>
                  <a:schemeClr val="dk1"/>
                </a:solidFill>
              </a:rPr>
              <a:t>→ </a:t>
            </a:r>
            <a:r>
              <a:rPr lang="es">
                <a:solidFill>
                  <a:schemeClr val="dk1"/>
                </a:solidFill>
              </a:rPr>
              <a:t>la URSS </a:t>
            </a:r>
            <a:r>
              <a:rPr lang="es" sz="1000">
                <a:solidFill>
                  <a:schemeClr val="dk1"/>
                </a:solidFill>
              </a:rPr>
              <a:t>→</a:t>
            </a:r>
            <a:r>
              <a:rPr lang="es">
                <a:solidFill>
                  <a:schemeClr val="dk1"/>
                </a:solidFill>
              </a:rPr>
              <a:t> imperio multinacional </a:t>
            </a:r>
            <a:r>
              <a:rPr lang="es" sz="1000">
                <a:solidFill>
                  <a:schemeClr val="dk1"/>
                </a:solidFill>
              </a:rPr>
              <a:t>→</a:t>
            </a:r>
            <a:r>
              <a:rPr lang="es">
                <a:solidFill>
                  <a:schemeClr val="dk1"/>
                </a:solidFill>
              </a:rPr>
              <a:t> unido por instrumentos de coerción y adoctrinamiento ideológico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cuestiones étnico-demográfico </a:t>
            </a:r>
            <a:r>
              <a:rPr lang="es" sz="1000">
                <a:solidFill>
                  <a:schemeClr val="dk1"/>
                </a:solidFill>
              </a:rPr>
              <a:t>→</a:t>
            </a:r>
            <a:r>
              <a:rPr lang="es">
                <a:solidFill>
                  <a:schemeClr val="dk1"/>
                </a:solidFill>
              </a:rPr>
              <a:t> distribución de nacionalidades en repúblicas en 1989 </a:t>
            </a:r>
            <a:r>
              <a:rPr lang="es" sz="1000">
                <a:solidFill>
                  <a:schemeClr val="dk1"/>
                </a:solidFill>
              </a:rPr>
              <a:t>→ </a:t>
            </a:r>
            <a:r>
              <a:rPr lang="es">
                <a:solidFill>
                  <a:schemeClr val="dk1"/>
                </a:solidFill>
              </a:rPr>
              <a:t>dos problemas</a:t>
            </a:r>
            <a:endParaRPr>
              <a:solidFill>
                <a:schemeClr val="dk1"/>
              </a:solidFill>
            </a:endParaRPr>
          </a:p>
          <a:p>
            <a:pPr marL="457200" lvl="0" indent="-317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s" b="1">
                <a:solidFill>
                  <a:schemeClr val="dk1"/>
                </a:solidFill>
              </a:rPr>
              <a:t>diferencias de población</a:t>
            </a:r>
            <a:r>
              <a:rPr lang="es">
                <a:solidFill>
                  <a:schemeClr val="dk1"/>
                </a:solidFill>
              </a:rPr>
              <a:t> </a:t>
            </a:r>
            <a:r>
              <a:rPr lang="es" sz="1000">
                <a:solidFill>
                  <a:schemeClr val="dk1"/>
                </a:solidFill>
              </a:rPr>
              <a:t>→ </a:t>
            </a:r>
            <a:r>
              <a:rPr lang="es">
                <a:solidFill>
                  <a:schemeClr val="dk1"/>
                </a:solidFill>
              </a:rPr>
              <a:t>dificultaban la descentralización democrática </a:t>
            </a:r>
            <a:endParaRPr sz="1000">
              <a:solidFill>
                <a:schemeClr val="dk1"/>
              </a:solidFill>
            </a:endParaRPr>
          </a:p>
          <a:p>
            <a:pPr marL="457200" lvl="0" indent="-317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s">
                <a:solidFill>
                  <a:schemeClr val="dk1"/>
                </a:solidFill>
              </a:rPr>
              <a:t>porcentaje significativo de </a:t>
            </a:r>
            <a:r>
              <a:rPr lang="es" b="1">
                <a:solidFill>
                  <a:schemeClr val="dk1"/>
                </a:solidFill>
              </a:rPr>
              <a:t>ciudadanos de origen ruso</a:t>
            </a:r>
            <a:r>
              <a:rPr lang="es">
                <a:solidFill>
                  <a:schemeClr val="dk1"/>
                </a:solidFill>
              </a:rPr>
              <a:t> en algunas de esas repúblicas </a:t>
            </a:r>
            <a:r>
              <a:rPr lang="es" sz="1000">
                <a:solidFill>
                  <a:schemeClr val="dk1"/>
                </a:solidFill>
              </a:rPr>
              <a:t>→</a:t>
            </a:r>
            <a:r>
              <a:rPr lang="es">
                <a:solidFill>
                  <a:schemeClr val="dk1"/>
                </a:solidFill>
              </a:rPr>
              <a:t> inestabilidad</a:t>
            </a:r>
            <a:endParaRPr>
              <a:solidFill>
                <a:schemeClr val="dk1"/>
              </a:solidFill>
            </a:endParaRPr>
          </a:p>
          <a:p>
            <a:pPr marL="45720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primeros tiempos de la perestroika </a:t>
            </a:r>
            <a:r>
              <a:rPr lang="es" sz="1000">
                <a:solidFill>
                  <a:schemeClr val="dk1"/>
                </a:solidFill>
              </a:rPr>
              <a:t>→</a:t>
            </a:r>
            <a:r>
              <a:rPr lang="es">
                <a:solidFill>
                  <a:schemeClr val="dk1"/>
                </a:solidFill>
              </a:rPr>
              <a:t> Gorbachov no pensaba que la estructura de la URSS estuviera en peligro </a:t>
            </a:r>
            <a:r>
              <a:rPr lang="es" sz="1000">
                <a:solidFill>
                  <a:schemeClr val="dk1"/>
                </a:solidFill>
              </a:rPr>
              <a:t>→</a:t>
            </a:r>
            <a:r>
              <a:rPr lang="es">
                <a:solidFill>
                  <a:schemeClr val="dk1"/>
                </a:solidFill>
              </a:rPr>
              <a:t> pero estaba convencido de impulsar </a:t>
            </a:r>
            <a:r>
              <a:rPr lang="es" b="1">
                <a:solidFill>
                  <a:schemeClr val="dk1"/>
                </a:solidFill>
              </a:rPr>
              <a:t>modificaciones en el régimen federal </a:t>
            </a:r>
            <a:r>
              <a:rPr lang="es">
                <a:solidFill>
                  <a:schemeClr val="dk1"/>
                </a:solidFill>
              </a:rPr>
              <a:t>existente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chemeClr val="dk1"/>
              </a:solidFill>
            </a:endParaRPr>
          </a:p>
        </p:txBody>
      </p:sp>
      <p:sp>
        <p:nvSpPr>
          <p:cNvPr id="90" name="Google Shape;90;p19"/>
          <p:cNvSpPr txBox="1"/>
          <p:nvPr/>
        </p:nvSpPr>
        <p:spPr>
          <a:xfrm>
            <a:off x="51025" y="45850"/>
            <a:ext cx="3490200" cy="275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/>
        </p:nvSpPr>
        <p:spPr>
          <a:xfrm>
            <a:off x="0" y="-51025"/>
            <a:ext cx="9144000" cy="53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el problema más perturbador para Gorbachov → movimiento nacionalista ruso liderado por Yeltsin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posición del PCUS frente al crecimiento del nacionalismo → decisiones Comité Central en sep de 1989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Uno de los acontecimientos cruciales en el proceso que llevó a la desintegración de la URSS → elecciones legislativas en la República Rusa (marzo 1990)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LA POLÍTICA EXTERIOR</a:t>
            </a:r>
            <a:endParaRPr b="1" u="sng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cuando Gorbachov ascendió al poder →</a:t>
            </a:r>
            <a:r>
              <a:rPr lang="es" b="1">
                <a:solidFill>
                  <a:schemeClr val="dk1"/>
                </a:solidFill>
              </a:rPr>
              <a:t> </a:t>
            </a:r>
            <a:r>
              <a:rPr lang="es">
                <a:solidFill>
                  <a:schemeClr val="dk1"/>
                </a:solidFill>
              </a:rPr>
              <a:t>la dirigencia →  visión negativa del lugar de la URSS en el mundo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A diferencia de la política interior → en las relaciones internacionales → Gorbachov → dinamismo y voluntad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idea principal del nuevo pensamiento →</a:t>
            </a:r>
            <a:r>
              <a:rPr lang="es" b="1">
                <a:solidFill>
                  <a:schemeClr val="dk1"/>
                </a:solidFill>
              </a:rPr>
              <a:t> </a:t>
            </a:r>
            <a:r>
              <a:rPr lang="es">
                <a:solidFill>
                  <a:schemeClr val="dk1"/>
                </a:solidFill>
              </a:rPr>
              <a:t>rechazo de la visión bipolar del mundo → implicaba la renuncia a la lucha por el poder global 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chemeClr val="dk1"/>
              </a:solidFill>
            </a:endParaRPr>
          </a:p>
        </p:txBody>
      </p:sp>
      <p:sp>
        <p:nvSpPr>
          <p:cNvPr id="96" name="Google Shape;96;p20"/>
          <p:cNvSpPr txBox="1"/>
          <p:nvPr/>
        </p:nvSpPr>
        <p:spPr>
          <a:xfrm>
            <a:off x="61225" y="2546175"/>
            <a:ext cx="2133000" cy="33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/>
        </p:nvSpPr>
        <p:spPr>
          <a:xfrm>
            <a:off x="0" y="-51025"/>
            <a:ext cx="9144000" cy="53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manifestación de las concepciones de Gorbachov sobre la realidad internacional → impulsar el </a:t>
            </a:r>
            <a:r>
              <a:rPr lang="es" b="1">
                <a:solidFill>
                  <a:schemeClr val="dk1"/>
                </a:solidFill>
              </a:rPr>
              <a:t>control de armamentos</a:t>
            </a:r>
            <a:endParaRPr b="1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s">
                <a:solidFill>
                  <a:schemeClr val="dk1"/>
                </a:solidFill>
              </a:rPr>
              <a:t>programa de desarme → el presidente Reagan compartía la idea → armas nucleares debían erradicarse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oct 1986 → primera reunión de los dos gobernantes → comienzo de un nuevo diálogo entre los dos protagonistas de la Guerra Fría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febrero → la URSS → retiró las tropas de Afganistán y disminuyó la ayuda a países → mientras se buscaban soluciones políticas en conflictos regionales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La caída de las democracias populares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u="sng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u="sng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→ ¿Cuáles fueron las razones de estos cambios?</a:t>
            </a:r>
            <a:endParaRPr u="sng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chemeClr val="dk1"/>
              </a:solidFill>
            </a:endParaRPr>
          </a:p>
        </p:txBody>
      </p:sp>
      <p:sp>
        <p:nvSpPr>
          <p:cNvPr id="102" name="Google Shape;102;p21"/>
          <p:cNvSpPr txBox="1"/>
          <p:nvPr/>
        </p:nvSpPr>
        <p:spPr>
          <a:xfrm>
            <a:off x="3316750" y="3896675"/>
            <a:ext cx="20400" cy="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21"/>
          <p:cNvSpPr txBox="1"/>
          <p:nvPr/>
        </p:nvSpPr>
        <p:spPr>
          <a:xfrm>
            <a:off x="51025" y="3886475"/>
            <a:ext cx="3184200" cy="2961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/>
        </p:nvSpPr>
        <p:spPr>
          <a:xfrm>
            <a:off x="0" y="-51025"/>
            <a:ext cx="9144000" cy="53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razones por las que no se intentaron negociaciones con los políticos aliados en esos países</a:t>
            </a:r>
            <a:endParaRPr>
              <a:solidFill>
                <a:schemeClr val="dk1"/>
              </a:solidFill>
            </a:endParaRPr>
          </a:p>
          <a:p>
            <a:pPr marL="457200" lvl="0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s">
                <a:solidFill>
                  <a:schemeClr val="dk1"/>
                </a:solidFill>
              </a:rPr>
              <a:t>cuestiones de política interior →  más complicadas →  Gorbachov dedicó sus esfuerzos a enfrentar problemas fronteras adentro </a:t>
            </a:r>
            <a:endParaRPr>
              <a:solidFill>
                <a:schemeClr val="dk1"/>
              </a:solidFill>
            </a:endParaRPr>
          </a:p>
          <a:p>
            <a:pPr marL="457200" lvl="0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s">
                <a:solidFill>
                  <a:schemeClr val="dk1"/>
                </a:solidFill>
              </a:rPr>
              <a:t>dificultades financieras de la URSS →  reducción de efectivos en Europa del Este y de las dimensiones del gasto →  los gobiernos de estos países se encontraron sin apoyo soviético en un momento crítico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u="sng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u="sng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fines de los 80´ →  los países de la región → en una situación difícil en el terreno económico→ percepción de que cualquier comparación con la situación de Europa Occidental mostraba enormes diferencias 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el colapso comenzó en</a:t>
            </a:r>
            <a:r>
              <a:rPr lang="es" b="1">
                <a:solidFill>
                  <a:schemeClr val="dk1"/>
                </a:solidFill>
              </a:rPr>
              <a:t> Polonia</a:t>
            </a:r>
            <a:r>
              <a:rPr lang="es">
                <a:solidFill>
                  <a:schemeClr val="dk1"/>
                </a:solidFill>
              </a:rPr>
              <a:t>, donde desde 1981 gobernaba el general Jaruzelski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En </a:t>
            </a:r>
            <a:r>
              <a:rPr lang="es" b="1">
                <a:solidFill>
                  <a:schemeClr val="dk1"/>
                </a:solidFill>
              </a:rPr>
              <a:t>Hungría</a:t>
            </a:r>
            <a:r>
              <a:rPr lang="es">
                <a:solidFill>
                  <a:schemeClr val="dk1"/>
                </a:solidFill>
              </a:rPr>
              <a:t>, las reformas ya estaban en marcha en 1989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chemeClr val="dk1"/>
              </a:solidFill>
            </a:endParaRPr>
          </a:p>
        </p:txBody>
      </p:sp>
      <p:sp>
        <p:nvSpPr>
          <p:cNvPr id="109" name="Google Shape;109;p22"/>
          <p:cNvSpPr txBox="1"/>
          <p:nvPr/>
        </p:nvSpPr>
        <p:spPr>
          <a:xfrm>
            <a:off x="3316750" y="3896675"/>
            <a:ext cx="20400" cy="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/>
        </p:nvSpPr>
        <p:spPr>
          <a:xfrm>
            <a:off x="0" y="-94500"/>
            <a:ext cx="9144000" cy="53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</a:t>
            </a:r>
            <a:r>
              <a:rPr lang="es" sz="1800">
                <a:solidFill>
                  <a:schemeClr val="dk1"/>
                </a:solidFill>
              </a:rPr>
              <a:t> </a:t>
            </a:r>
            <a:r>
              <a:rPr lang="es">
                <a:solidFill>
                  <a:schemeClr val="dk1"/>
                </a:solidFill>
              </a:rPr>
              <a:t>Gorbachov visitó la </a:t>
            </a:r>
            <a:r>
              <a:rPr lang="es" b="1">
                <a:solidFill>
                  <a:schemeClr val="dk1"/>
                </a:solidFill>
              </a:rPr>
              <a:t>República Democrática Alemana </a:t>
            </a:r>
            <a:r>
              <a:rPr lang="es">
                <a:solidFill>
                  <a:schemeClr val="dk1"/>
                </a:solidFill>
              </a:rPr>
              <a:t>en octubre de 1989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</a:t>
            </a:r>
            <a:r>
              <a:rPr lang="es" b="1">
                <a:solidFill>
                  <a:schemeClr val="dk1"/>
                </a:solidFill>
              </a:rPr>
              <a:t>Checoslovaquia </a:t>
            </a:r>
            <a:r>
              <a:rPr lang="es">
                <a:solidFill>
                  <a:schemeClr val="dk1"/>
                </a:solidFill>
              </a:rPr>
              <a:t>→ la oposición había mantenido una cierta presencia luego de los acontecimientos de 1968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</a:t>
            </a:r>
            <a:r>
              <a:rPr lang="es" b="1">
                <a:solidFill>
                  <a:schemeClr val="dk1"/>
                </a:solidFill>
              </a:rPr>
              <a:t>Rumania</a:t>
            </a:r>
            <a:r>
              <a:rPr lang="es">
                <a:solidFill>
                  <a:schemeClr val="dk1"/>
                </a:solidFill>
              </a:rPr>
              <a:t> → el régimen de Nicolae Ceaucescu → derrocado en diciembre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En</a:t>
            </a:r>
            <a:r>
              <a:rPr lang="es" b="1">
                <a:solidFill>
                  <a:schemeClr val="dk1"/>
                </a:solidFill>
              </a:rPr>
              <a:t> Bulgaria</a:t>
            </a:r>
            <a:r>
              <a:rPr lang="es">
                <a:solidFill>
                  <a:schemeClr val="dk1"/>
                </a:solidFill>
              </a:rPr>
              <a:t>, el país de Europa del Este más cercano a la URSS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derrumbe  “democracias populares” a partir de la no intervención de la URSS en los asuntos de estos países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chemeClr val="dk1"/>
              </a:solidFill>
            </a:endParaRPr>
          </a:p>
        </p:txBody>
      </p:sp>
      <p:sp>
        <p:nvSpPr>
          <p:cNvPr id="115" name="Google Shape;115;p23"/>
          <p:cNvSpPr txBox="1"/>
          <p:nvPr/>
        </p:nvSpPr>
        <p:spPr>
          <a:xfrm>
            <a:off x="3316750" y="3896675"/>
            <a:ext cx="20400" cy="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/>
        </p:nvSpPr>
        <p:spPr>
          <a:xfrm>
            <a:off x="0" y="0"/>
            <a:ext cx="9144000" cy="52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Las explicaciones sobre el fin de la guerra fría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debate del proceso que culminó en 1989 → razones por las cuales el líder de la URSS procedió como lo hizo:</a:t>
            </a:r>
            <a:endParaRPr>
              <a:solidFill>
                <a:schemeClr val="dk1"/>
              </a:solidFill>
            </a:endParaRPr>
          </a:p>
          <a:p>
            <a:pPr marL="457200" lvl="0" indent="-317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s">
                <a:solidFill>
                  <a:schemeClr val="dk1"/>
                </a:solidFill>
              </a:rPr>
              <a:t>mediados 80´ → la balanza de poder internacional se inclinó a favor de EE.UU.</a:t>
            </a:r>
            <a:endParaRPr>
              <a:solidFill>
                <a:schemeClr val="dk1"/>
              </a:solidFill>
            </a:endParaRPr>
          </a:p>
          <a:p>
            <a:pPr marL="457200" lvl="0" indent="-317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s">
                <a:solidFill>
                  <a:schemeClr val="dk1"/>
                </a:solidFill>
              </a:rPr>
              <a:t>problemas de la economía soviética → llegar a acuerdos que condujeran al fin de la confrontación</a:t>
            </a:r>
            <a:endParaRPr>
              <a:solidFill>
                <a:schemeClr val="dk1"/>
              </a:solidFill>
            </a:endParaRPr>
          </a:p>
          <a:p>
            <a:pPr marL="457200" lvl="0" indent="-317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 startAt="2"/>
            </a:pPr>
            <a:r>
              <a:rPr lang="es">
                <a:solidFill>
                  <a:schemeClr val="dk1"/>
                </a:solidFill>
              </a:rPr>
              <a:t>Gorbachov →  conjunto de ideas sobre la realidad económica y política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la decisión de acabar con la Guerra Fría no implicaba el fin de la URSS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LA SOCIEDAD Y LA CULTURA FRENTE A LA PERESTROIKA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Esta situación se modificó durante el período de la perestroika: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s">
                <a:solidFill>
                  <a:schemeClr val="dk1"/>
                </a:solidFill>
              </a:rPr>
              <a:t>la época inaugurada por Gorbachov dio lugar a que los ciudadanos soviéticos comenzaran a expresarse    </a:t>
            </a:r>
            <a:endParaRPr b="1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chemeClr val="dk1"/>
              </a:solidFill>
            </a:endParaRPr>
          </a:p>
        </p:txBody>
      </p:sp>
      <p:sp>
        <p:nvSpPr>
          <p:cNvPr id="121" name="Google Shape;121;p24"/>
          <p:cNvSpPr txBox="1"/>
          <p:nvPr/>
        </p:nvSpPr>
        <p:spPr>
          <a:xfrm>
            <a:off x="3316750" y="3896675"/>
            <a:ext cx="20400" cy="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24"/>
          <p:cNvSpPr txBox="1"/>
          <p:nvPr/>
        </p:nvSpPr>
        <p:spPr>
          <a:xfrm>
            <a:off x="71425" y="66275"/>
            <a:ext cx="3806700" cy="265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24"/>
          <p:cNvSpPr txBox="1"/>
          <p:nvPr/>
        </p:nvSpPr>
        <p:spPr>
          <a:xfrm>
            <a:off x="61225" y="3280950"/>
            <a:ext cx="5082300" cy="285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5"/>
          <p:cNvSpPr txBox="1"/>
          <p:nvPr/>
        </p:nvSpPr>
        <p:spPr>
          <a:xfrm>
            <a:off x="0" y="0"/>
            <a:ext cx="9144000" cy="52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</a:t>
            </a:r>
            <a:r>
              <a:rPr lang="es" b="1">
                <a:solidFill>
                  <a:schemeClr val="dk1"/>
                </a:solidFill>
              </a:rPr>
              <a:t>apertura informativa</a:t>
            </a:r>
            <a:r>
              <a:rPr lang="es">
                <a:solidFill>
                  <a:schemeClr val="dk1"/>
                </a:solidFill>
              </a:rPr>
              <a:t>  (a partir de 1987) →  efecto importantísimo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repercusiones de las reformas de Gorbachov en el ámbito de la </a:t>
            </a:r>
            <a:r>
              <a:rPr lang="es" b="1">
                <a:solidFill>
                  <a:schemeClr val="dk1"/>
                </a:solidFill>
              </a:rPr>
              <a:t>cultura popular</a:t>
            </a:r>
            <a:r>
              <a:rPr lang="es">
                <a:solidFill>
                  <a:schemeClr val="dk1"/>
                </a:solidFill>
              </a:rPr>
              <a:t> → libertad de expresión y la legitimación de la cultura generada “desde abajo”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s">
                <a:solidFill>
                  <a:schemeClr val="dk1"/>
                </a:solidFill>
              </a:rPr>
              <a:t>cargos de importancia a profesionales de la cultura comprometidos con las posturas aperturistas 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causa del “fracaso” de esta apertura → evidente decadencia en el nivel de vida de la población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HACIA EL DERRUMBE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 u="sng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distinguir entre →  </a:t>
            </a:r>
            <a:r>
              <a:rPr lang="es" b="1">
                <a:solidFill>
                  <a:schemeClr val="dk1"/>
                </a:solidFill>
              </a:rPr>
              <a:t>las causas lejanas</a:t>
            </a:r>
            <a:r>
              <a:rPr lang="es">
                <a:solidFill>
                  <a:schemeClr val="dk1"/>
                </a:solidFill>
              </a:rPr>
              <a:t> y </a:t>
            </a:r>
            <a:r>
              <a:rPr lang="es" b="1">
                <a:solidFill>
                  <a:schemeClr val="dk1"/>
                </a:solidFill>
              </a:rPr>
              <a:t>los detonantes</a:t>
            </a:r>
            <a:r>
              <a:rPr lang="es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junio de 1990 → XXVIII Congreso del PCUS, la situación general modificaciones respecto de un año atrás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>
                <a:solidFill>
                  <a:schemeClr val="dk1"/>
                </a:solidFill>
              </a:rPr>
              <a:t> </a:t>
            </a:r>
            <a:r>
              <a:rPr lang="es">
                <a:solidFill>
                  <a:schemeClr val="dk1"/>
                </a:solidFill>
              </a:rPr>
              <a:t>  </a:t>
            </a:r>
            <a:endParaRPr b="1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chemeClr val="dk1"/>
              </a:solidFill>
            </a:endParaRPr>
          </a:p>
        </p:txBody>
      </p:sp>
      <p:sp>
        <p:nvSpPr>
          <p:cNvPr id="129" name="Google Shape;129;p25"/>
          <p:cNvSpPr txBox="1"/>
          <p:nvPr/>
        </p:nvSpPr>
        <p:spPr>
          <a:xfrm>
            <a:off x="3316750" y="3896675"/>
            <a:ext cx="20400" cy="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25"/>
          <p:cNvSpPr txBox="1"/>
          <p:nvPr/>
        </p:nvSpPr>
        <p:spPr>
          <a:xfrm>
            <a:off x="71425" y="3311575"/>
            <a:ext cx="2000100" cy="255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/>
        </p:nvSpPr>
        <p:spPr>
          <a:xfrm>
            <a:off x="0" y="-47250"/>
            <a:ext cx="9144000" cy="52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Congreso del PCUS → Gorbachov → ratificado en su cargo de secretario general → pero las diferencias dentro del partido eran enormes → podían identificarse 3 fracciones:</a:t>
            </a:r>
            <a:endParaRPr>
              <a:solidFill>
                <a:schemeClr val="dk1"/>
              </a:solidFill>
            </a:endParaRPr>
          </a:p>
          <a:p>
            <a:pPr marL="457200" lvl="0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s">
                <a:solidFill>
                  <a:schemeClr val="dk1"/>
                </a:solidFill>
              </a:rPr>
              <a:t>la que aspiraba a mantener el liderazgo del partido, liderada por Ligachov</a:t>
            </a:r>
            <a:endParaRPr>
              <a:solidFill>
                <a:schemeClr val="dk1"/>
              </a:solidFill>
            </a:endParaRPr>
          </a:p>
          <a:p>
            <a:pPr marL="457200" lvl="0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s">
                <a:solidFill>
                  <a:schemeClr val="dk1"/>
                </a:solidFill>
              </a:rPr>
              <a:t>la de Yeltsin→ afirmaba que éste debía abandonar su posición dominante </a:t>
            </a:r>
            <a:endParaRPr>
              <a:solidFill>
                <a:schemeClr val="dk1"/>
              </a:solidFill>
            </a:endParaRPr>
          </a:p>
          <a:p>
            <a:pPr marL="457200" lvl="0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s">
                <a:solidFill>
                  <a:schemeClr val="dk1"/>
                </a:solidFill>
              </a:rPr>
              <a:t>la que encabezaba Gorbachov → posición intermedia </a:t>
            </a:r>
            <a:endParaRPr>
              <a:solidFill>
                <a:schemeClr val="dk1"/>
              </a:solidFill>
            </a:endParaRPr>
          </a:p>
          <a:p>
            <a:pPr marL="4572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estancamiento de la economía + problemas de desabastecimiento + creciente intranquilidad social→ buscar soluciones drásticas:</a:t>
            </a:r>
            <a:endParaRPr>
              <a:solidFill>
                <a:schemeClr val="dk1"/>
              </a:solidFill>
            </a:endParaRPr>
          </a:p>
          <a:p>
            <a:pPr marL="457200" lvl="0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s">
                <a:solidFill>
                  <a:schemeClr val="dk1"/>
                </a:solidFill>
              </a:rPr>
              <a:t>ante el desprestigio y cuestionamiento de la economía planificada → Gorbachov optó por una rápida transición a la economía de mercado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“Plan de los 500 días”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Las presiones sobre Gorbachov dieron resultado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oct 1990 - mar 1991 → Gorbachov → giro hacia posiciones conservadoras frente a los sectores reformistas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>
                <a:solidFill>
                  <a:schemeClr val="dk1"/>
                </a:solidFill>
              </a:rPr>
              <a:t> </a:t>
            </a:r>
            <a:r>
              <a:rPr lang="es">
                <a:solidFill>
                  <a:schemeClr val="dk1"/>
                </a:solidFill>
              </a:rPr>
              <a:t>  </a:t>
            </a:r>
            <a:endParaRPr b="1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chemeClr val="dk1"/>
              </a:solidFill>
            </a:endParaRPr>
          </a:p>
        </p:txBody>
      </p:sp>
      <p:sp>
        <p:nvSpPr>
          <p:cNvPr id="136" name="Google Shape;136;p26"/>
          <p:cNvSpPr txBox="1"/>
          <p:nvPr/>
        </p:nvSpPr>
        <p:spPr>
          <a:xfrm>
            <a:off x="3316750" y="3896675"/>
            <a:ext cx="20400" cy="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7"/>
          <p:cNvSpPr txBox="1"/>
          <p:nvPr/>
        </p:nvSpPr>
        <p:spPr>
          <a:xfrm>
            <a:off x="0" y="-47250"/>
            <a:ext cx="9144000" cy="52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La popularidad de Gorbachov cayó en picada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la dirigencia de los países bálticos decidió operar de manera autónoma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Gorbachov continuó intentando llegar a un consenso respecto de un nuevo tratado de la Unión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Gorbachov  →  a partir de marzo inició un nuevo viraje hacia posiciones reformistas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Mientras tanto los rusos siguieron adelante y el 12 de junio se celebraron las elecciones para presidente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La situación era cada vez más inestable y la posición de Gorbachov más débil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>
                <a:solidFill>
                  <a:schemeClr val="dk1"/>
                </a:solidFill>
              </a:rPr>
              <a:t> </a:t>
            </a:r>
            <a:r>
              <a:rPr lang="es">
                <a:solidFill>
                  <a:schemeClr val="dk1"/>
                </a:solidFill>
              </a:rPr>
              <a:t>  </a:t>
            </a:r>
            <a:endParaRPr b="1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chemeClr val="dk1"/>
              </a:solidFill>
            </a:endParaRPr>
          </a:p>
        </p:txBody>
      </p:sp>
      <p:sp>
        <p:nvSpPr>
          <p:cNvPr id="142" name="Google Shape;142;p27"/>
          <p:cNvSpPr txBox="1"/>
          <p:nvPr/>
        </p:nvSpPr>
        <p:spPr>
          <a:xfrm>
            <a:off x="3316750" y="3896675"/>
            <a:ext cx="20400" cy="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8"/>
          <p:cNvSpPr txBox="1"/>
          <p:nvPr/>
        </p:nvSpPr>
        <p:spPr>
          <a:xfrm>
            <a:off x="0" y="-47250"/>
            <a:ext cx="9144000" cy="52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1"/>
                </a:solidFill>
              </a:rPr>
              <a:t>EL GOLPE DE AGOSTO Y LA DISOLUCIÓN DE LA UNIÓN SOVIÉTICA </a:t>
            </a:r>
            <a:endParaRPr sz="130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 verano de 1991 →  la economía soviética → situación catastrófica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ese escenario + protesta social → transformación política más importante experimentada por el mundo 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Gorbachov → principales dirigentes → le exigieron la</a:t>
            </a:r>
            <a:r>
              <a:rPr lang="es" b="1">
                <a:solidFill>
                  <a:schemeClr val="dk1"/>
                </a:solidFill>
              </a:rPr>
              <a:t> </a:t>
            </a:r>
            <a:r>
              <a:rPr lang="es">
                <a:solidFill>
                  <a:schemeClr val="dk1"/>
                </a:solidFill>
              </a:rPr>
              <a:t>firma de un decreto declarando el estado de emergencia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¿Porqué un golpe de esas características terminó en un rotundo fracaso?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Gorbachov pareció pensar que se podría continuar como si nada hubiera ocurrido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s">
                <a:solidFill>
                  <a:schemeClr val="dk1"/>
                </a:solidFill>
              </a:rPr>
              <a:t>el 25 de agosto → renunció a su cargo de secretario general del partido y 10 días después se disolvió el Congreso de los Diputados del Pueblo, a la espera de la convocatoria a nuevas elecciones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chemeClr val="dk1"/>
              </a:solidFill>
            </a:endParaRPr>
          </a:p>
        </p:txBody>
      </p:sp>
      <p:sp>
        <p:nvSpPr>
          <p:cNvPr id="148" name="Google Shape;148;p28"/>
          <p:cNvSpPr txBox="1"/>
          <p:nvPr/>
        </p:nvSpPr>
        <p:spPr>
          <a:xfrm>
            <a:off x="3316750" y="3896675"/>
            <a:ext cx="20400" cy="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28"/>
          <p:cNvSpPr txBox="1"/>
          <p:nvPr/>
        </p:nvSpPr>
        <p:spPr>
          <a:xfrm>
            <a:off x="61225" y="25450"/>
            <a:ext cx="5562000" cy="234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9"/>
          <p:cNvSpPr txBox="1"/>
          <p:nvPr/>
        </p:nvSpPr>
        <p:spPr>
          <a:xfrm>
            <a:off x="0" y="-47250"/>
            <a:ext cx="9144000" cy="52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 hasta fines de 1991 → pulseada entre Gorbachov y Yeltsin → empeñado en concretar la desintegración y de asegurarse el poder con toda su gente en Rusia: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s">
                <a:solidFill>
                  <a:schemeClr val="dk1"/>
                </a:solidFill>
              </a:rPr>
              <a:t>el presidente de la más grande república de la URSS jugó fuerte → a partir de noviembre Rusia dejó de financiar a la Unión Soviética + otras medidas que mostraban la voluntad de encarar un camino sin retorno 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la debilidad de Gorbachov se hizo manifiesta → debió aceptar la propuesta de conformar una unión mucho más débil que la propuesta por el Tratado de la Unión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</a:t>
            </a:r>
            <a:r>
              <a:rPr lang="es" b="1">
                <a:solidFill>
                  <a:schemeClr val="dk1"/>
                </a:solidFill>
              </a:rPr>
              <a:t> </a:t>
            </a:r>
            <a:r>
              <a:rPr lang="es">
                <a:solidFill>
                  <a:schemeClr val="dk1"/>
                </a:solidFill>
              </a:rPr>
              <a:t>La Unión Soviética → luego de 74 años de producida la revolución que dio lugar a su conformación → después de generar enormes expectativas en millones de personas en todo el mundo → que la veían como la oportunidad de crear un mundo más justo → se derrumbó en un rápido proceso → tras haber tomado un rumbo que sin duda estaba muy lejos de los previsto por la mayoría de quienes depositaron en ella su esperanza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>
                <a:solidFill>
                  <a:schemeClr val="dk1"/>
                </a:solidFill>
              </a:rPr>
              <a:t> </a:t>
            </a:r>
            <a:r>
              <a:rPr lang="es">
                <a:solidFill>
                  <a:schemeClr val="dk1"/>
                </a:solidFill>
              </a:rPr>
              <a:t>  </a:t>
            </a:r>
            <a:endParaRPr b="1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chemeClr val="dk1"/>
              </a:solidFill>
            </a:endParaRPr>
          </a:p>
        </p:txBody>
      </p:sp>
      <p:sp>
        <p:nvSpPr>
          <p:cNvPr id="155" name="Google Shape;155;p29"/>
          <p:cNvSpPr txBox="1"/>
          <p:nvPr/>
        </p:nvSpPr>
        <p:spPr>
          <a:xfrm>
            <a:off x="3316750" y="3896675"/>
            <a:ext cx="20400" cy="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1835</Words>
  <Application>Microsoft Office PowerPoint</Application>
  <PresentationFormat>Presentación en pantalla (16:9)</PresentationFormat>
  <Paragraphs>255</Paragraphs>
  <Slides>17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19" baseType="lpstr">
      <vt:lpstr>Arial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Martha R</dc:creator>
  <cp:lastModifiedBy>Martha R</cp:lastModifiedBy>
  <cp:revision>2</cp:revision>
  <dcterms:modified xsi:type="dcterms:W3CDTF">2020-05-19T18:08:30Z</dcterms:modified>
</cp:coreProperties>
</file>